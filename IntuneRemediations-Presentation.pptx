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Deck covers: why the pipeline exists (slides 2-3), how it is built (4-5), the end-to-end workflows (6-9), the detection/remediation contract and code matrices (10-15), quality assurance (16), and how to deploy and operate it (17-21). Every slide has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operational pain: admins export deviceStatuses/windowsUpdateStates, eyeball error codes, and build one-off fixes. The deck shows how this repo automates grouping and makes remediation precise and verifiable. Orange cards = risks the redesign removed.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three-move framing is the elevator pitch. Emphasise the loop: device state → Graph → groups → remediation → device state. Membership re-sync means assignments auto-scope as errors appear and disappear — no manual group hygiene.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parallel lanes share one sync engine. Patch lane: beta/deviceManagement/windowsUpdateStates. App lane: v1.0 mobileApps list (paged) with beta deviceStatuses per app. Writes: v1.0 groups API + $batch membership. The bottom strip explains why the system self-heals: membership is derived state, never set-and-forget.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Design decision: Local variants used to duplicate ~130 lines each - they are now thin wrappers, so there is exactly one implementation per pipeline. The tests file is the regression gate: run it after any change (python-free, plain powershell -File).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one error code end-to-end: device fails 0x80070070 → group Intune-PatchError--2147024784 created with marker → its deviceId added via $batch → Intune assignment targeting that group starts running detection on it → next day, if the error cleared, the sweep removes it. Note the double dash: prefix + '-2147024784'. Existing group names are preserved deliberately. Failures throw so Azure Automation marks the job failed.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deviceStatuses exists only in beta today; mobileApps is read from v1.0. A per-app try/catch means one app with a broken status feed cannot abort the run (it counts as a failure and still surfaces in the summary). -AppFilter is useful for pilots: sync only one app's failures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old implementation did one GET per device to check membership, never followed nextLink, and had no retry - at fleet scale it was guaranteed to throttle and silently mis-sync. All six properties are covered by Tests\Run-Tests.ps1 with a mocked Invoke-MgGraphRequest.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Lifecycle is fully derived: groups exist exactly as long as their error code does (when cleanup is enabled). The double-dash name quirk is intentional - renaming would orphan existing Intune assignments in live tenants. The strip answers the most common ops question: why don't you just delete stale groups?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contract is what closes the loop with operations: 'Failed' exits give you a live list of devices where the fix did not take, instead of an all-green report from scripts that never checked. Report-only codes (packaging problems) intentionally re-report daily so guidance stays visible without mutating the device.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Smoke-run proof: on the build machine the new detection exits 1 with 'PendingFileRenameOperations set' - the old code exited 0 there because Test-Path can't see registry values. Targeted WUServer exits 1 only when targeted; full scan stays 0. Unknown target codes exit 0 so no remediation loop is possible.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Verification column as the accountability mechanism. Examples: a disk-cleanup that frees nothing exits 1 (Failed) so ops sees it; DISM RestoreHealth is judged by its exit code; the reboot case is Unknown on purpose - we report but never auto-reboot, because forced reboots are a change-management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Codes without an automatic fix produce guidance in the Intune report instead of a risky action (policy conflicts, low memory, aborts). The dirty-disk row shows the flag pattern: default is a read-only scan; -AllowChkdsk schedules 'chkdsk C: /f' (never /r - /r can take hours). Intune cannot pass parameters, so the default is the safe one and the comment explains how to flip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1618 heuristic change matters most: with 'msiexec count &gt; 1', detection fired during every healthy install, which then triggered remediation to wait 15 minutes for the install it was interrupting. Stale-time (&gt;20 min) plus an abnormal process count matches the real failure mode.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is the risk story for management and the review checklist for security. Every 'after' behaviour is still effective for its error code - the difference is bounded blast radius and an honest exit code. The two design flags (-AllowChkdsk, -RequireWUServer) exist because those two actions are legitimate but environment-specific.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Regression story: the mocks make Graph behaviour deterministic (paged responses, a thrown 429, batch echo). The smoke runs validate the parts mocks cannot - real registry semantics, real exit codes, real detection/remediation flow on a live Windows build.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Callout: the original setup doc omitted DeviceManagementApps.Read.All - the app runbook would 403 on every deviceStatuses query. Fixed in AZURE-AUTOMATION-SETUP.md along with module guidance (Microsoft.Graph.DeviceManagement is not needed) and the alert rule. Dry-run-first is now part of the documented procedure.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vantage points: the run (job status + summary), the device (Intune report + logs), and the directory (group sizes as a poor-man's dashboard). Suggested next step: a Azure Workbook that trends group membership over time from the same Graph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Phases are ordered so the riskiest steps (directory writes, orphan deletion, fleet-wide assignments) each sit behind an evidence gate. Phase 5 is last on purpose: deleting groups touches assignment scope, so it waits for a clean operational history.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Licensing is the silent killer for Remediations deployments - the feature shows up in the UI before everyone is licensed. Beta endpoints are called out honestly: they are the only API surface for this data today, and they are isolated behind Invoke-GraphGetAll so swapping them is a one-line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three numbers: 40 tests passing, ~20 patch + ~35 app error codes covered, and zero destructive defaults left in the remediation path. Then open the floor - demo the DryRun output live if the audience wants to see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24528"/>
            <a:ext cx="12191695" cy="82296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607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Intune Patch &amp; App Remediation Pipeline</a:t>
            </a:r>
          </a:p>
          <a:p>
            <a:pPr>
              <a:spcBef>
                <a:spcPts val="1400"/>
              </a:spcBef>
            </a:pPr>
            <a:r>
              <a:rPr sz="1800">
                <a:solidFill>
                  <a:srgbClr val="B9D6F2"/>
                </a:solidFill>
                <a:latin typeface="Calibri"/>
              </a:rPr>
              <a:t>Automated detection, error-code grouping and safe remediation of Windows Update and app installation failures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572000"/>
            <a:ext cx="10607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400">
                <a:solidFill>
                  <a:srgbClr val="9FC4E8"/>
                </a:solidFill>
                <a:latin typeface="Calibri"/>
              </a:rPr>
              <a:t>Azure Automation  ·  Microsoft Graph  ·  Entra ID security groups  ·  Intune Remediations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300">
                <a:solidFill>
                  <a:srgbClr val="9FC4E8"/>
                </a:solidFill>
                <a:latin typeface="Calibri"/>
              </a:rPr>
              <a:t>Architecture, workflow, error matrices, safety design, testing and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8932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7FA8CE"/>
                </a:solidFill>
                <a:latin typeface="Calibri"/>
              </a:rPr>
              <a:t>Repository: C:\Users\SAM\Documents\IntuneRemediations  · 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95097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The Problem: Intune Failures Are Invisible and Untargeted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27432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FE4F8"/>
                </a:solidFill>
                <a:latin typeface="Calibri"/>
              </a:rPr>
              <a:t>Why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55664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B6B7C"/>
                </a:solidFill>
                <a:latin typeface="Calibri"/>
              </a:rPr>
              <a:t>Intune Patch &amp; App Remediation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55664"/>
            <a:ext cx="640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B6B7C"/>
                </a:solidFill>
                <a:latin typeface="Calibri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188720"/>
            <a:ext cx="5532120" cy="1783080"/>
          </a:xfrm>
          <a:prstGeom prst="roundRect">
            <a:avLst/>
          </a:prstGeom>
          <a:solidFill>
            <a:srgbClr val="EEF3FA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78D4"/>
                </a:solidFill>
                <a:latin typeface="Calibri"/>
              </a:rPr>
              <a:t>Failures drown in reports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50">
                <a:solidFill>
                  <a:srgbClr val="222E3B"/>
                </a:solidFill>
                <a:latin typeface="Calibri"/>
              </a:rPr>
              <a:t>Windows Update and app install errors are spread across thousands of device rows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50">
                <a:solidFill>
                  <a:srgbClr val="222E3B"/>
                </a:solidFill>
                <a:latin typeface="Calibri"/>
              </a:rPr>
              <a:t>Root causes (disk, memory, WSUS policy, stuck installer...) are found by hand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50">
                <a:solidFill>
                  <a:srgbClr val="222E3B"/>
                </a:solidFill>
                <a:latin typeface="Calibri"/>
              </a:rPr>
              <a:t>MTTR is measured in tickets, not minutes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188720"/>
            <a:ext cx="5532120" cy="1783080"/>
          </a:xfrm>
          <a:prstGeom prst="roundRect">
            <a:avLst/>
          </a:prstGeom>
          <a:solidFill>
            <a:srgbClr val="EEF3FA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78D4"/>
                </a:solidFill>
                <a:latin typeface="Calibri"/>
              </a:rPr>
              <a:t>Remediation cannot target the cause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50">
                <a:solidFill>
                  <a:srgbClr val="222E3B"/>
                </a:solidFill>
                <a:latin typeface="Calibri"/>
              </a:rPr>
              <a:t>Intune Remediations assign to groups - but error codes only exist inside reports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50">
                <a:solidFill>
                  <a:srgbClr val="222E3B"/>
                </a:solidFill>
                <a:latin typeface="Calibri"/>
              </a:rPr>
              <a:t>One generic script is assigned to everyone, whatever actually failed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50">
                <a:solidFill>
                  <a:srgbClr val="222E3B"/>
                </a:solidFill>
                <a:latin typeface="Calibri"/>
              </a:rPr>
              <a:t>Healthy devices get re-mediated; broken ones get the wrong fix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3154680"/>
            <a:ext cx="5532120" cy="1783080"/>
          </a:xfrm>
          <a:prstGeom prst="roundRect">
            <a:avLst/>
          </a:prstGeom>
          <a:solidFill>
            <a:srgbClr val="EEF3FA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C43E1C"/>
                </a:solidFill>
                <a:latin typeface="Calibri"/>
              </a:rPr>
              <a:t>Scripts that hide or cause damage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50">
                <a:solidFill>
                  <a:srgbClr val="222E3B"/>
                </a:solidFill>
                <a:latin typeface="Calibri"/>
              </a:rPr>
              <a:t>Legacy patterns: chkdsk /r, winsock resets, DISM /ResetBase, killing every service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50">
                <a:solidFill>
                  <a:srgbClr val="222E3B"/>
                </a:solidFill>
                <a:latin typeface="Calibri"/>
              </a:rPr>
              <a:t>“Exit 0 = success” without verifying - loops run daily and never fix anything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50">
                <a:solidFill>
                  <a:srgbClr val="222E3B"/>
                </a:solidFill>
                <a:latin typeface="Calibri"/>
              </a:rPr>
              <a:t>Detection bugs (registry Test-Path, English-only parsing) silently mis-fire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3154680"/>
            <a:ext cx="5532120" cy="1783080"/>
          </a:xfrm>
          <a:prstGeom prst="roundRect">
            <a:avLst/>
          </a:prstGeom>
          <a:solidFill>
            <a:srgbClr val="EEF3FA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C43E1C"/>
                </a:solidFill>
                <a:latin typeface="Calibri"/>
              </a:rPr>
              <a:t>No operational control loop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50">
                <a:solidFill>
                  <a:srgbClr val="222E3B"/>
                </a:solidFill>
                <a:latin typeface="Calibri"/>
              </a:rPr>
              <a:t>No grouping, no ownership markers, no dry-run before writing to the directory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50">
                <a:solidFill>
                  <a:srgbClr val="222E3B"/>
                </a:solidFill>
                <a:latin typeface="Calibri"/>
              </a:rPr>
              <a:t>No paging/throttling handling - runs fail halfway at scale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50">
                <a:solidFill>
                  <a:srgbClr val="222E3B"/>
                </a:solidFill>
                <a:latin typeface="Calibri"/>
              </a:rPr>
              <a:t>Nothing tells you when the automation itself broke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5212080"/>
            <a:ext cx="11365992" cy="685800"/>
          </a:xfrm>
          <a:prstGeom prst="roundRect">
            <a:avLst/>
          </a:prstGeom>
          <a:solidFill>
            <a:srgbClr val="DCEAF8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100" b="1">
                <a:solidFill>
                  <a:srgbClr val="1B3A5B"/>
                </a:solidFill>
                <a:latin typeface="Calibri"/>
              </a:rPr>
              <a:t>Goal: turn raw Graph failure states into error-code groups, target the right fix at the right devices, and prove every action was taken — safely.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95097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Solution: A Closed Loop in Three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27432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FE4F8"/>
                </a:solidFill>
                <a:latin typeface="Calibri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55664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B6B7C"/>
                </a:solidFill>
                <a:latin typeface="Calibri"/>
              </a:rPr>
              <a:t>Intune Patch &amp; App Remediation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55664"/>
            <a:ext cx="640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B6B7C"/>
                </a:solidFill>
                <a:latin typeface="Calibri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188720"/>
            <a:ext cx="3639312" cy="2834640"/>
          </a:xfrm>
          <a:prstGeom prst="roundRect">
            <a:avLst/>
          </a:prstGeom>
          <a:solidFill>
            <a:srgbClr val="EEF3FA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0078D4"/>
                </a:solidFill>
                <a:latin typeface="Calibri"/>
              </a:rPr>
              <a:t>1 · Group per error code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50">
                <a:solidFill>
                  <a:srgbClr val="222E3B"/>
                </a:solidFill>
                <a:latin typeface="Calibri"/>
              </a:rPr>
              <a:t>Daily runbook reads Graph failure states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1" sz="1150">
                <a:solidFill>
                  <a:srgbClr val="222E3B"/>
                </a:solidFill>
                <a:latin typeface="Calibri"/>
              </a:rPr>
              <a:t>Each errorCode becomes an Entra security group:</a:t>
            </a:r>
            <a:r>
              <a:rPr b="0" sz="1150">
                <a:solidFill>
                  <a:srgbClr val="222E3B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50">
                <a:solidFill>
                  <a:srgbClr val="222E3B"/>
                </a:solidFill>
                <a:latin typeface="Calibri"/>
              </a:rPr>
              <a:t>Intune-PatchError-{code}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50">
                <a:solidFill>
                  <a:srgbClr val="222E3B"/>
                </a:solidFill>
                <a:latin typeface="Calibri"/>
              </a:rPr>
              <a:t>Intune-AppError-{code}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50">
                <a:solidFill>
                  <a:srgbClr val="222E3B"/>
                </a:solidFill>
                <a:latin typeface="Calibri"/>
              </a:rPr>
              <a:t>Membership re-synced: devices leave the group when the failure clears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70248" y="1188720"/>
            <a:ext cx="3639312" cy="2834640"/>
          </a:xfrm>
          <a:prstGeom prst="roundRect">
            <a:avLst/>
          </a:prstGeom>
          <a:solidFill>
            <a:srgbClr val="EEF3FA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0078D4"/>
                </a:solidFill>
                <a:latin typeface="Calibri"/>
              </a:rPr>
              <a:t>2 · Target the remediation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50">
                <a:solidFill>
                  <a:srgbClr val="222E3B"/>
                </a:solidFill>
                <a:latin typeface="Calibri"/>
              </a:rPr>
              <a:t>Intune Remediation (detection + fix) is assigned to each error group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50">
                <a:solidFill>
                  <a:srgbClr val="222E3B"/>
                </a:solidFill>
                <a:latin typeface="Calibri"/>
              </a:rPr>
              <a:t>Detection asks: “does this device still show that condition?”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50">
                <a:solidFill>
                  <a:srgbClr val="222E3B"/>
                </a:solidFill>
                <a:latin typeface="Calibri"/>
              </a:rPr>
              <a:t>Exit 1 → remediation runs, only on those devices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50">
                <a:solidFill>
                  <a:srgbClr val="222E3B"/>
                </a:solidFill>
                <a:latin typeface="Calibri"/>
              </a:rPr>
              <a:t>20+ patch codes and 35+ app codes covered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29016" y="1188720"/>
            <a:ext cx="3639312" cy="2834640"/>
          </a:xfrm>
          <a:prstGeom prst="roundRect">
            <a:avLst/>
          </a:prstGeom>
          <a:solidFill>
            <a:srgbClr val="EEF3FA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7C10"/>
                </a:solidFill>
                <a:latin typeface="Calibri"/>
              </a:rPr>
              <a:t>3 · Fix safely, prove it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50">
                <a:solidFill>
                  <a:srgbClr val="222E3B"/>
                </a:solidFill>
                <a:latin typeface="Calibri"/>
              </a:rPr>
              <a:t>Idempotent, non-destructive actions only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50">
                <a:solidFill>
                  <a:srgbClr val="222E3B"/>
                </a:solidFill>
                <a:latin typeface="Calibri"/>
              </a:rPr>
              <a:t>Post-action verification: Verified / Unknown → exit 0, Failed → exit 1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50">
                <a:solidFill>
                  <a:srgbClr val="222E3B"/>
                </a:solidFill>
                <a:latin typeface="Calibri"/>
              </a:rPr>
              <a:t>Results land in the Intune remediation report per device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50">
                <a:solidFill>
                  <a:srgbClr val="222E3B"/>
                </a:solidFill>
                <a:latin typeface="Calibri"/>
              </a:rPr>
              <a:t>Runbook failures throw → Azure Monitor alert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4343400"/>
            <a:ext cx="2743200" cy="822960"/>
          </a:xfrm>
          <a:prstGeom prst="roundRect">
            <a:avLst/>
          </a:prstGeom>
          <a:solidFill>
            <a:srgbClr val="EEF3FA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100" b="1">
                <a:solidFill>
                  <a:srgbClr val="1B3A5B"/>
                </a:solidFill>
                <a:latin typeface="Calibr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" y="4434840"/>
            <a:ext cx="252374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78D4"/>
                </a:solidFill>
                <a:latin typeface="Calibri"/>
              </a:rPr>
              <a:t>Managed identity</a:t>
            </a:r>
          </a:p>
          <a:p>
            <a:r>
              <a:rPr sz="1050">
                <a:solidFill>
                  <a:srgbClr val="5B6B7C"/>
                </a:solidFill>
                <a:latin typeface="Calibri"/>
              </a:rPr>
              <a:t>no secrets stored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00984" y="4343400"/>
            <a:ext cx="2743200" cy="822960"/>
          </a:xfrm>
          <a:prstGeom prst="roundRect">
            <a:avLst/>
          </a:prstGeom>
          <a:solidFill>
            <a:srgbClr val="EEF3FA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100" b="1">
                <a:solidFill>
                  <a:srgbClr val="1B3A5B"/>
                </a:solidFill>
                <a:latin typeface="Calibri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10712" y="4434840"/>
            <a:ext cx="252374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78D4"/>
                </a:solidFill>
                <a:latin typeface="Calibri"/>
              </a:rPr>
              <a:t>-DryRun</a:t>
            </a:r>
          </a:p>
          <a:p>
            <a:r>
              <a:rPr sz="1050">
                <a:solidFill>
                  <a:srgbClr val="5B6B7C"/>
                </a:solidFill>
                <a:latin typeface="Calibri"/>
              </a:rPr>
              <a:t>preview before write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0488" y="4343400"/>
            <a:ext cx="2743200" cy="822960"/>
          </a:xfrm>
          <a:prstGeom prst="roundRect">
            <a:avLst/>
          </a:prstGeom>
          <a:solidFill>
            <a:srgbClr val="EEF3FA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100" b="1">
                <a:solidFill>
                  <a:srgbClr val="1B3A5B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0216" y="4434840"/>
            <a:ext cx="252374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78D4"/>
                </a:solidFill>
                <a:latin typeface="Calibri"/>
              </a:rPr>
              <a:t>40 offline tests</a:t>
            </a:r>
          </a:p>
          <a:p>
            <a:r>
              <a:rPr sz="1050">
                <a:solidFill>
                  <a:srgbClr val="5B6B7C"/>
                </a:solidFill>
                <a:latin typeface="Calibri"/>
              </a:rPr>
              <a:t>no tenant required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4343400"/>
            <a:ext cx="2743200" cy="822960"/>
          </a:xfrm>
          <a:prstGeom prst="roundRect">
            <a:avLst/>
          </a:prstGeom>
          <a:solidFill>
            <a:srgbClr val="EEF3FA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100" b="1">
                <a:solidFill>
                  <a:srgbClr val="1B3A5B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9719" y="4434840"/>
            <a:ext cx="252374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78D4"/>
                </a:solidFill>
                <a:latin typeface="Calibri"/>
              </a:rPr>
              <a:t>Ownership marker</a:t>
            </a:r>
          </a:p>
          <a:p>
            <a:r>
              <a:rPr sz="1050">
                <a:solidFill>
                  <a:srgbClr val="5B6B7C"/>
                </a:solidFill>
                <a:latin typeface="Calibri"/>
              </a:rPr>
              <a:t>hand-made groups safe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5440680"/>
            <a:ext cx="11365992" cy="566928"/>
          </a:xfrm>
          <a:prstGeom prst="roundRect">
            <a:avLst/>
          </a:prstGeom>
          <a:solidFill>
            <a:srgbClr val="E3F3E3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100" b="1">
                <a:solidFill>
                  <a:srgbClr val="107C10"/>
                </a:solidFill>
                <a:latin typeface="Calibri"/>
              </a:rPr>
              <a:t>Outcome: failures re-group themselves every day; the right script runs on the right devices; nothing is claimed fixed unless it was checked.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95097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Architecture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27432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FE4F8"/>
                </a:solidFill>
                <a:latin typeface="Calibri"/>
              </a:rPr>
              <a:t>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55664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B6B7C"/>
                </a:solidFill>
                <a:latin typeface="Calibri"/>
              </a:rPr>
              <a:t>Intune Patch &amp; App Remediation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55664"/>
            <a:ext cx="640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B6B7C"/>
                </a:solidFill>
                <a:latin typeface="Calibri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325880"/>
            <a:ext cx="2468880" cy="1143000"/>
          </a:xfrm>
          <a:prstGeom prst="roundRect">
            <a:avLst/>
          </a:prstGeom>
          <a:solidFill>
            <a:srgbClr val="EEF3FA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0078D4"/>
                </a:solidFill>
                <a:latin typeface="Calibri"/>
              </a:rPr>
              <a:t>Azure Automation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050">
                <a:solidFill>
                  <a:srgbClr val="222E3B"/>
                </a:solidFill>
                <a:latin typeface="Calibri"/>
              </a:rPr>
              <a:t>PowerShell runbooks, daily schedule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050">
                <a:solidFill>
                  <a:srgbClr val="222E3B"/>
                </a:solidFill>
                <a:latin typeface="Calibri"/>
              </a:rPr>
              <a:t>Managed identity (Connect-MgGraph -Identity)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999232" y="1737360"/>
            <a:ext cx="502920" cy="320040"/>
          </a:xfrm>
          <a:prstGeom prst="rightArrow">
            <a:avLst/>
          </a:prstGeom>
          <a:solidFill>
            <a:srgbClr val="8FA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11880" y="1325880"/>
            <a:ext cx="2286000" cy="1143000"/>
          </a:xfrm>
          <a:prstGeom prst="roundRect">
            <a:avLst/>
          </a:prstGeom>
          <a:solidFill>
            <a:srgbClr val="EEF3FA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0078D4"/>
                </a:solidFill>
                <a:latin typeface="Calibri"/>
              </a:rPr>
              <a:t>Microsoft Graph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050">
                <a:solidFill>
                  <a:srgbClr val="222E3B"/>
                </a:solidFill>
                <a:latin typeface="Calibri"/>
              </a:rPr>
              <a:t>read failure states (beta)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050">
                <a:solidFill>
                  <a:srgbClr val="222E3B"/>
                </a:solidFill>
                <a:latin typeface="Calibri"/>
              </a:rPr>
              <a:t>create/update groups + members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1051560"/>
            <a:ext cx="2743200" cy="914400"/>
          </a:xfrm>
          <a:prstGeom prst="roundRect">
            <a:avLst/>
          </a:prstGeom>
          <a:solidFill>
            <a:srgbClr val="E8F2FC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1" sz="1000">
                <a:solidFill>
                  <a:srgbClr val="222E3B"/>
                </a:solidFill>
                <a:latin typeface="Calibri"/>
              </a:rPr>
              <a:t>Patch lane</a:t>
            </a:r>
            <a:r>
              <a:rPr b="0" sz="1000">
                <a:solidFill>
                  <a:srgbClr val="222E3B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000">
                <a:solidFill>
                  <a:srgbClr val="222E3B"/>
                </a:solidFill>
                <a:latin typeface="Calibri"/>
              </a:rPr>
              <a:t>windowsUpdateStates (beta)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000">
                <a:solidFill>
                  <a:srgbClr val="222E3B"/>
                </a:solidFill>
                <a:latin typeface="Calibri"/>
              </a:rPr>
              <a:t>status = failed → errorCode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326880" y="1371600"/>
            <a:ext cx="411480" cy="274320"/>
          </a:xfrm>
          <a:prstGeom prst="rightArrow">
            <a:avLst/>
          </a:prstGeom>
          <a:solidFill>
            <a:srgbClr val="8FA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829800" y="1051560"/>
            <a:ext cx="2194560" cy="914400"/>
          </a:xfrm>
          <a:prstGeom prst="roundRect">
            <a:avLst/>
          </a:prstGeom>
          <a:solidFill>
            <a:srgbClr val="E8F2FC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000">
                <a:solidFill>
                  <a:srgbClr val="222E3B"/>
                </a:solidFill>
                <a:latin typeface="Calibri"/>
              </a:rPr>
              <a:t>Entra groups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000">
                <a:solidFill>
                  <a:srgbClr val="222E3B"/>
                </a:solidFill>
                <a:latin typeface="Calibri"/>
              </a:rPr>
              <a:t>Intune-PatchError-{code}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2286000"/>
            <a:ext cx="2743200" cy="914400"/>
          </a:xfrm>
          <a:prstGeom prst="roundRect">
            <a:avLst/>
          </a:prstGeom>
          <a:solidFill>
            <a:srgbClr val="E8F2FC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1" sz="1000">
                <a:solidFill>
                  <a:srgbClr val="222E3B"/>
                </a:solidFill>
                <a:latin typeface="Calibri"/>
              </a:rPr>
              <a:t>App lane</a:t>
            </a:r>
            <a:r>
              <a:rPr b="0" sz="1000">
                <a:solidFill>
                  <a:srgbClr val="222E3B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000">
                <a:solidFill>
                  <a:srgbClr val="222E3B"/>
                </a:solidFill>
                <a:latin typeface="Calibri"/>
              </a:rPr>
              <a:t>mobileApps (v1.0) + deviceStatuses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000">
                <a:solidFill>
                  <a:srgbClr val="222E3B"/>
                </a:solidFill>
                <a:latin typeface="Calibri"/>
              </a:rPr>
              <a:t>installState = failed → errorCode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326880" y="2606040"/>
            <a:ext cx="411480" cy="274320"/>
          </a:xfrm>
          <a:prstGeom prst="rightArrow">
            <a:avLst/>
          </a:prstGeom>
          <a:solidFill>
            <a:srgbClr val="8FA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829800" y="2286000"/>
            <a:ext cx="2194560" cy="914400"/>
          </a:xfrm>
          <a:prstGeom prst="roundRect">
            <a:avLst/>
          </a:prstGeom>
          <a:solidFill>
            <a:srgbClr val="E8F2FC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000">
                <a:solidFill>
                  <a:srgbClr val="222E3B"/>
                </a:solidFill>
                <a:latin typeface="Calibri"/>
              </a:rPr>
              <a:t>Entra groups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000">
                <a:solidFill>
                  <a:srgbClr val="222E3B"/>
                </a:solidFill>
                <a:latin typeface="Calibri"/>
              </a:rPr>
              <a:t>Intune-AppError-{code}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1371600" y="2606040"/>
            <a:ext cx="320040" cy="457200"/>
          </a:xfrm>
          <a:prstGeom prst="downArrow">
            <a:avLst/>
          </a:prstGeom>
          <a:solidFill>
            <a:srgbClr val="8FA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11480" y="3977639"/>
            <a:ext cx="2743200" cy="1234440"/>
          </a:xfrm>
          <a:prstGeom prst="roundRect">
            <a:avLst/>
          </a:prstGeom>
          <a:solidFill>
            <a:srgbClr val="EEF3FA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0078D4"/>
                </a:solidFill>
                <a:latin typeface="Calibri"/>
              </a:rPr>
              <a:t>Windows devices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050">
                <a:solidFill>
                  <a:srgbClr val="222E3B"/>
                </a:solidFill>
                <a:latin typeface="Calibri"/>
              </a:rPr>
              <a:t>Entra joined / hybrid, Intune-managed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050">
                <a:solidFill>
                  <a:srgbClr val="222E3B"/>
                </a:solidFill>
                <a:latin typeface="Calibri"/>
              </a:rPr>
              <a:t>Remediation runs as SYSTEM via IME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3246120" y="4434840"/>
            <a:ext cx="457200" cy="320040"/>
          </a:xfrm>
          <a:prstGeom prst="rightArrow">
            <a:avLst/>
          </a:prstGeom>
          <a:solidFill>
            <a:srgbClr val="8FA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840480" y="3977639"/>
            <a:ext cx="4023360" cy="1234440"/>
          </a:xfrm>
          <a:prstGeom prst="roundRect">
            <a:avLst/>
          </a:prstGeom>
          <a:solidFill>
            <a:srgbClr val="EEF3FA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107C10"/>
                </a:solidFill>
                <a:latin typeface="Calibri"/>
              </a:rPr>
              <a:t>Intune Remediations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050">
                <a:solidFill>
                  <a:srgbClr val="222E3B"/>
                </a:solidFill>
                <a:latin typeface="Calibri"/>
              </a:rPr>
              <a:t>Detection script → exit 0 compliant / exit 1 non-compliant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050">
                <a:solidFill>
                  <a:srgbClr val="222E3B"/>
                </a:solidFill>
                <a:latin typeface="Calibri"/>
              </a:rPr>
              <a:t>Remediation script → State|Detail output, exit 0 fixed / exit 1 failed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001000" y="4434840"/>
            <a:ext cx="457200" cy="320040"/>
          </a:xfrm>
          <a:prstGeom prst="rightArrow">
            <a:avLst/>
          </a:prstGeom>
          <a:solidFill>
            <a:srgbClr val="8FA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595360" y="3977639"/>
            <a:ext cx="3108960" cy="1234440"/>
          </a:xfrm>
          <a:prstGeom prst="roundRect">
            <a:avLst/>
          </a:prstGeom>
          <a:solidFill>
            <a:srgbClr val="EEF3FA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0078D4"/>
                </a:solidFill>
                <a:latin typeface="Calibri"/>
              </a:rPr>
              <a:t>Assigned per group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050">
                <a:solidFill>
                  <a:srgbClr val="222E3B"/>
                </a:solidFill>
                <a:latin typeface="Calibri"/>
              </a:rPr>
              <a:t>One assignment per error-code group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050">
                <a:solidFill>
                  <a:srgbClr val="222E3B"/>
                </a:solidFill>
                <a:latin typeface="Calibri"/>
              </a:rPr>
              <a:t>Scope follows membership automatically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5486400"/>
            <a:ext cx="11365992" cy="548640"/>
          </a:xfrm>
          <a:prstGeom prst="roundRect">
            <a:avLst/>
          </a:prstGeom>
          <a:solidFill>
            <a:srgbClr val="DCEAF8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100" b="1">
                <a:solidFill>
                  <a:srgbClr val="1B3A5B"/>
                </a:solidFill>
                <a:latin typeface="Calibri"/>
              </a:rPr>
              <a:t>Closed loop: remediated devices change state → Graph reflects it → next run moves them out of the group → the assignment stops applying.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95097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Repository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27432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FE4F8"/>
                </a:solidFill>
                <a:latin typeface="Calibri"/>
              </a:rPr>
              <a:t>Codebase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55664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B6B7C"/>
                </a:solidFill>
                <a:latin typeface="Calibri"/>
              </a:rPr>
              <a:t>Intune Patch &amp; App Remediation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55664"/>
            <a:ext cx="640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B6B7C"/>
                </a:solidFill>
                <a:latin typeface="Calibri"/>
              </a:rPr>
              <a:t>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188720"/>
          <a:ext cx="11338560" cy="47914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80560"/>
                <a:gridCol w="68580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File</a:t>
                      </a:r>
                    </a:p>
                  </a:txBody>
                  <a:tcPr marL="64008" marR="45720" marT="18288" marB="18288" anchor="ctr">
                    <a:solidFill>
                      <a:srgbClr val="0078D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marL="64008" marR="45720" marT="18288" marB="18288" anchor="ctr">
                    <a:solidFill>
                      <a:srgbClr val="0078D4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E3B"/>
                          </a:solidFill>
                          <a:latin typeface="Calibri"/>
                        </a:rPr>
                        <a:t>IntuneUpdateErrorGroups.ps1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E3B"/>
                          </a:solidFill>
                          <a:latin typeface="Calibri"/>
                        </a:rPr>
                        <a:t>Patch group-sync runbook (single source of truth): paging, retry, $batch, marker guard, sweep, -DryRun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E3B"/>
                          </a:solidFill>
                          <a:latin typeface="Calibri"/>
                        </a:rPr>
                        <a:t>IntuneUpdateErrorGroups-Local.ps1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E3B"/>
                          </a:solidFill>
                          <a:latin typeface="Calibri"/>
                        </a:rPr>
                        <a:t>Thin wrapper: installs Graph module, interactive sign-in, calls the runbook with -Interactive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E3B"/>
                          </a:solidFill>
                          <a:latin typeface="Calibri"/>
                        </a:rPr>
                        <a:t>App\IntuneAppErrorGroups.ps1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E3B"/>
                          </a:solidFill>
                          <a:latin typeface="Calibri"/>
                        </a:rPr>
                        <a:t>App group-sync runbook: enumerates apps + failed deviceStatuses, then the same sync engine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E3B"/>
                          </a:solidFill>
                          <a:latin typeface="Calibri"/>
                        </a:rPr>
                        <a:t>App\IntuneAppErrorGroups-Local.ps1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E3B"/>
                          </a:solidFill>
                          <a:latin typeface="Calibri"/>
                        </a:rPr>
                        <a:t>Thin wrapper for the app runbook (interactive login, -DryRun, -AppFilter)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E3B"/>
                          </a:solidFill>
                          <a:latin typeface="Calibri"/>
                        </a:rPr>
                        <a:t>DetectionTemplate.ps1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E3B"/>
                          </a:solidFill>
                          <a:latin typeface="Calibri"/>
                        </a:rPr>
                        <a:t>Patch detection: fast full scan or per-code targeted scan; exit 0/1 contract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E3B"/>
                          </a:solidFill>
                          <a:latin typeface="Calibri"/>
                        </a:rPr>
                        <a:t>RemediationTemplate.ps1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E3B"/>
                          </a:solidFill>
                          <a:latin typeface="Calibri"/>
                        </a:rPr>
                        <a:t>Patch remediation: safe actions per code + verification (Verified/Unknown/Failed)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E3B"/>
                          </a:solidFill>
                          <a:latin typeface="Calibri"/>
                        </a:rPr>
                        <a:t>App\DetectionTemplate.ps1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E3B"/>
                          </a:solidFill>
                          <a:latin typeface="Calibri"/>
                        </a:rPr>
                        <a:t>App detection: pending reboot, stale msiexec, temp writability, report-only codes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E3B"/>
                          </a:solidFill>
                          <a:latin typeface="Calibri"/>
                        </a:rPr>
                        <a:t>App\RemediationTemplate.ps1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E3B"/>
                          </a:solidFill>
                          <a:latin typeface="Calibri"/>
                        </a:rPr>
                        <a:t>App remediation: age-gated cleanup, wait/kill policy, guidance output for packaging issues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E3B"/>
                          </a:solidFill>
                          <a:latin typeface="Calibri"/>
                        </a:rPr>
                        <a:t>ERROR-REFERENCE.md  (x2)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E3B"/>
                          </a:solidFill>
                          <a:latin typeface="Calibri"/>
                        </a:rPr>
                        <a:t>Code → hex → detection → remediation tables for patches and apps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E3B"/>
                          </a:solidFill>
                          <a:latin typeface="Calibri"/>
                        </a:rPr>
                        <a:t>AZURE-AUTOMATION-SETUP.md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E3B"/>
                          </a:solidFill>
                          <a:latin typeface="Calibri"/>
                        </a:rPr>
                        <a:t>Identity, Graph app roles, module import, dry-run, schedule, alerting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E3B"/>
                          </a:solidFill>
                          <a:latin typeface="Calibri"/>
                        </a:rPr>
                        <a:t>Tests\Run-Tests.ps1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E3B"/>
                          </a:solidFill>
                          <a:latin typeface="Calibri"/>
                        </a:rPr>
                        <a:t>Offline suite: parse checks, dot-source safety, Graph helpers, membership diff (40 assertions)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95097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Patch Workflow: Error-Code Group Sync (9 Steps)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27432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FE4F8"/>
                </a:solidFill>
                <a:latin typeface="Calibri"/>
              </a:rPr>
              <a:t>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55664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B6B7C"/>
                </a:solidFill>
                <a:latin typeface="Calibri"/>
              </a:rPr>
              <a:t>Intune Patch &amp; App Remediation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55664"/>
            <a:ext cx="640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B6B7C"/>
                </a:solidFill>
                <a:latin typeface="Calibri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207008"/>
            <a:ext cx="420624" cy="420624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1143000"/>
            <a:ext cx="509320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1200" b="1">
                <a:solidFill>
                  <a:srgbClr val="1B3A5B"/>
                </a:solidFill>
                <a:latin typeface="Calibri"/>
              </a:rPr>
              <a:t>Auth  </a:t>
            </a:r>
            <a:r>
              <a:rPr sz="1100">
                <a:solidFill>
                  <a:srgbClr val="222E3B"/>
                </a:solidFill>
                <a:latin typeface="Calibri"/>
              </a:rPr>
              <a:t>managed identity (runbook) or interactive sign-in (-Local); -DryRun previews everything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139696"/>
            <a:ext cx="420624" cy="420624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075688"/>
            <a:ext cx="509320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1200" b="1">
                <a:solidFill>
                  <a:srgbClr val="1B3A5B"/>
                </a:solidFill>
                <a:latin typeface="Calibri"/>
              </a:rPr>
              <a:t>Read  </a:t>
            </a:r>
            <a:r>
              <a:rPr sz="1100">
                <a:solidFill>
                  <a:srgbClr val="222E3B"/>
                </a:solidFill>
                <a:latin typeface="Calibri"/>
              </a:rPr>
              <a:t>paged GET beta/deviceManagement/windowsUpdateStates?$top=1000 - follows @odata.nextLink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3072384"/>
            <a:ext cx="420624" cy="420624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3008376"/>
            <a:ext cx="509320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1200" b="1">
                <a:solidFill>
                  <a:srgbClr val="1B3A5B"/>
                </a:solidFill>
                <a:latin typeface="Calibri"/>
              </a:rPr>
              <a:t>Filter  </a:t>
            </a:r>
            <a:r>
              <a:rPr sz="1100">
                <a:solidFill>
                  <a:srgbClr val="222E3B"/>
                </a:solidFill>
                <a:latin typeface="Calibri"/>
              </a:rPr>
              <a:t>keep status = failed with a deviceId; bucket rows by errorCode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4005072"/>
            <a:ext cx="420624" cy="420624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3941064"/>
            <a:ext cx="509320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1200" b="1">
                <a:solidFill>
                  <a:srgbClr val="1B3A5B"/>
                </a:solidFill>
                <a:latin typeface="Calibri"/>
              </a:rPr>
              <a:t>Match  </a:t>
            </a:r>
            <a:r>
              <a:rPr sz="1100">
                <a:solidFill>
                  <a:srgbClr val="222E3B"/>
                </a:solidFill>
                <a:latin typeface="Calibri"/>
              </a:rPr>
              <a:t>find Intune-PatchError-{code} (OData filter, quotes escaped); create with the automation marker if new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4937760"/>
            <a:ext cx="420624" cy="420624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" y="4873752"/>
            <a:ext cx="509320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1200" b="1">
                <a:solidFill>
                  <a:srgbClr val="1B3A5B"/>
                </a:solidFill>
                <a:latin typeface="Calibri"/>
              </a:rPr>
              <a:t>Guard  </a:t>
            </a:r>
            <a:r>
              <a:rPr sz="1100">
                <a:solidFill>
                  <a:srgbClr val="222E3B"/>
                </a:solidFill>
                <a:latin typeface="Calibri"/>
              </a:rPr>
              <a:t>groups without 'Managed by automation' in the description are skipped - never touched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5352" y="1207008"/>
            <a:ext cx="420624" cy="420624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75704" y="1143000"/>
            <a:ext cx="509320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1200" b="1">
                <a:solidFill>
                  <a:srgbClr val="1B3A5B"/>
                </a:solidFill>
                <a:latin typeface="Calibri"/>
              </a:rPr>
              <a:t>Diff  </a:t>
            </a:r>
            <a:r>
              <a:rPr sz="1100">
                <a:solidFill>
                  <a:srgbClr val="222E3B"/>
                </a:solidFill>
                <a:latin typeface="Calibri"/>
              </a:rPr>
              <a:t>read all members (paged) and compare with target deviceIds: toAdd / toRemove sets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5352" y="2139696"/>
            <a:ext cx="420624" cy="420624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75704" y="2075688"/>
            <a:ext cx="509320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1200" b="1">
                <a:solidFill>
                  <a:srgbClr val="1B3A5B"/>
                </a:solidFill>
                <a:latin typeface="Calibri"/>
              </a:rPr>
              <a:t>Write  </a:t>
            </a:r>
            <a:r>
              <a:rPr sz="1100">
                <a:solidFill>
                  <a:srgbClr val="222E3B"/>
                </a:solidFill>
                <a:latin typeface="Calibri"/>
              </a:rPr>
              <a:t>$batch, 20 ops per call: POST members/$ref adds, DELETE removes; 409/404 are benign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45352" y="3072384"/>
            <a:ext cx="420624" cy="420624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75704" y="3008376"/>
            <a:ext cx="509320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1200" b="1">
                <a:solidFill>
                  <a:srgbClr val="1B3A5B"/>
                </a:solidFill>
                <a:latin typeface="Calibri"/>
              </a:rPr>
              <a:t>Sweep  </a:t>
            </a:r>
            <a:r>
              <a:rPr sz="1100">
                <a:solidFill>
                  <a:srgbClr val="222E3B"/>
                </a:solidFill>
                <a:latin typeface="Calibri"/>
              </a:rPr>
              <a:t>codes with zero current failures: members removed; group deleted only with -CleanupOrphanedGroups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45352" y="4005072"/>
            <a:ext cx="420624" cy="420624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75704" y="3941064"/>
            <a:ext cx="509320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1200" b="1">
                <a:solidFill>
                  <a:srgbClr val="1B3A5B"/>
                </a:solidFill>
                <a:latin typeface="Calibri"/>
              </a:rPr>
              <a:t>Report  </a:t>
            </a:r>
            <a:r>
              <a:rPr sz="1100">
                <a:solidFill>
                  <a:srgbClr val="222E3B"/>
                </a:solidFill>
                <a:latin typeface="Calibri"/>
              </a:rPr>
              <a:t>summary line with every count; any real failure → throw → job Failed → alert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45352" y="4937760"/>
            <a:ext cx="5623560" cy="960120"/>
          </a:xfrm>
          <a:prstGeom prst="roundRect">
            <a:avLst/>
          </a:prstGeom>
          <a:solidFill>
            <a:srgbClr val="1B3A5B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Summary line (machine-readable):
created=0 synced=3 cleared=1 deleted=0 membersAdded=5 membersRemoved=2
membersSkipped=1 invalidDeviceIds=0 failures=0 dryRun=False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95097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App Workflow: From App Catalog to Groups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27432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FE4F8"/>
                </a:solidFill>
                <a:latin typeface="Calibri"/>
              </a:rPr>
              <a:t>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55664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B6B7C"/>
                </a:solidFill>
                <a:latin typeface="Calibri"/>
              </a:rPr>
              <a:t>Intune Patch &amp; App Remediation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55664"/>
            <a:ext cx="640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B6B7C"/>
                </a:solidFill>
                <a:latin typeface="Calibri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252728"/>
            <a:ext cx="420624" cy="420624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1188720"/>
            <a:ext cx="523036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1200" b="1">
                <a:solidFill>
                  <a:srgbClr val="1B3A5B"/>
                </a:solidFill>
                <a:latin typeface="Calibri"/>
              </a:rPr>
              <a:t>Auth  </a:t>
            </a:r>
            <a:r>
              <a:rPr sz="1100">
                <a:solidFill>
                  <a:srgbClr val="222E3B"/>
                </a:solidFill>
                <a:latin typeface="Calibri"/>
              </a:rPr>
              <a:t>same engine as the patch runbook; -DryRun supported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212848"/>
            <a:ext cx="420624" cy="420624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148840"/>
            <a:ext cx="523036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1200" b="1">
                <a:solidFill>
                  <a:srgbClr val="1B3A5B"/>
                </a:solidFill>
                <a:latin typeface="Calibri"/>
              </a:rPr>
              <a:t>Enumerate  </a:t>
            </a:r>
            <a:r>
              <a:rPr sz="1100">
                <a:solidFill>
                  <a:srgbClr val="222E3B"/>
                </a:solidFill>
                <a:latin typeface="Calibri"/>
              </a:rPr>
              <a:t>paged v1.0/deviceManagement/mobileApps; -AppFilter narrows by display name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3172968"/>
            <a:ext cx="420624" cy="420624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3108960"/>
            <a:ext cx="523036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1200" b="1">
                <a:solidFill>
                  <a:srgbClr val="1B3A5B"/>
                </a:solidFill>
                <a:latin typeface="Calibri"/>
              </a:rPr>
              <a:t>Per app  </a:t>
            </a:r>
            <a:r>
              <a:rPr sz="1100">
                <a:solidFill>
                  <a:srgbClr val="222E3B"/>
                </a:solidFill>
                <a:latin typeface="Calibri"/>
              </a:rPr>
              <a:t>beta .../deviceStatuses?$filter=installState eq 'failed' (paged, try/catch per app)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4133088"/>
            <a:ext cx="420624" cy="420624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4069080"/>
            <a:ext cx="523036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1200" b="1">
                <a:solidFill>
                  <a:srgbClr val="1B3A5B"/>
                </a:solidFill>
                <a:latin typeface="Calibri"/>
              </a:rPr>
              <a:t>Aggregate  </a:t>
            </a:r>
            <a:r>
              <a:rPr sz="1100">
                <a:solidFill>
                  <a:srgbClr val="222E3B"/>
                </a:solidFill>
                <a:latin typeface="Calibri"/>
              </a:rPr>
              <a:t>rows reduced to deviceId + errorCode; grouped by errorCode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5093208"/>
            <a:ext cx="420624" cy="420624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" y="5029200"/>
            <a:ext cx="523036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1200" b="1">
                <a:solidFill>
                  <a:srgbClr val="1B3A5B"/>
                </a:solidFill>
                <a:latin typeface="Calibri"/>
              </a:rPr>
              <a:t>Sync + sweep  </a:t>
            </a:r>
            <a:r>
              <a:rPr sz="1100">
                <a:solidFill>
                  <a:srgbClr val="222E3B"/>
                </a:solidFill>
                <a:latin typeface="Calibri"/>
              </a:rPr>
              <a:t>identical to patch: marker guard, diff, $batch writes, stale-group emptying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1188720"/>
            <a:ext cx="5257800" cy="1417320"/>
          </a:xfrm>
          <a:prstGeom prst="roundRect">
            <a:avLst/>
          </a:prstGeom>
          <a:solidFill>
            <a:srgbClr val="EEF3FA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0078D4"/>
                </a:solidFill>
                <a:latin typeface="Calibri"/>
              </a:rPr>
              <a:t>MSI installer codes 1601–1642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050">
                <a:solidFill>
                  <a:srgbClr val="222E3B"/>
                </a:solidFill>
                <a:latin typeface="Calibri"/>
              </a:rPr>
              <a:t>1601 service failed · 1602 user cancel · 1603 fatal · 1618 install in progress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050">
                <a:solidFill>
                  <a:srgbClr val="222E3B"/>
                </a:solidFill>
                <a:latin typeface="Calibri"/>
              </a:rPr>
              <a:t>1619 package unreadable · 1632 temp unwritable · 1638 version conflict · 1641 reboot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2788920"/>
            <a:ext cx="5257800" cy="1417320"/>
          </a:xfrm>
          <a:prstGeom prst="roundRect">
            <a:avLst/>
          </a:prstGeom>
          <a:solidFill>
            <a:srgbClr val="EEF3FA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0078D4"/>
                </a:solidFill>
                <a:latin typeface="Calibri"/>
              </a:rPr>
              <a:t>Intune Win32 codes 0x87D0…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050">
                <a:solidFill>
                  <a:srgbClr val="222E3B"/>
                </a:solidFill>
                <a:latin typeface="Calibri"/>
              </a:rPr>
              <a:t>-2016281111 detection said not installed · -2016344807 requirement not met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050">
                <a:solidFill>
                  <a:srgbClr val="222E3B"/>
                </a:solidFill>
                <a:latin typeface="Calibri"/>
              </a:rPr>
              <a:t>-2016281109/12/13/14 script failed / timeout / file / registry path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92240" y="4389120"/>
            <a:ext cx="5257800" cy="1417320"/>
          </a:xfrm>
          <a:prstGeom prst="roundRect">
            <a:avLst/>
          </a:prstGeom>
          <a:solidFill>
            <a:srgbClr val="EEF3FA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107C10"/>
                </a:solidFill>
                <a:latin typeface="Calibri"/>
              </a:rPr>
              <a:t>System codes (shared with patch lane)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050">
                <a:solidFill>
                  <a:srgbClr val="222E3B"/>
                </a:solidFill>
                <a:latin typeface="Calibri"/>
              </a:rPr>
              <a:t>-2147024784 disk · -2147021879 reboot · -2147024891 memory · -2147024894 file missing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050">
                <a:solidFill>
                  <a:srgbClr val="222E3B"/>
                </a:solidFill>
                <a:latin typeface="Calibri"/>
              </a:rPr>
              <a:t>Kept in the AppError prefix so app and patch groups never collide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5897880"/>
            <a:ext cx="11365992" cy="502920"/>
          </a:xfrm>
          <a:prstGeom prst="roundRect">
            <a:avLst/>
          </a:prstGeom>
          <a:solidFill>
            <a:srgbClr val="DCEAF8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100" b="1">
                <a:solidFill>
                  <a:srgbClr val="1B3A5B"/>
                </a:solidFill>
                <a:latin typeface="Calibri"/>
              </a:rPr>
              <a:t>Scale note: app statuses are read sequentially (paged per app, ≤500 apps per run); all membership writes are batched - the expensive part stays cheap.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95097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Graph Hardening: What Makes It Prod-Grade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27432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FE4F8"/>
                </a:solidFill>
                <a:latin typeface="Calibri"/>
              </a:rPr>
              <a:t>Reliability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55664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B6B7C"/>
                </a:solidFill>
                <a:latin typeface="Calibri"/>
              </a:rPr>
              <a:t>Intune Patch &amp; App Remediation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55664"/>
            <a:ext cx="640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B6B7C"/>
                </a:solidFill>
                <a:latin typeface="Calibri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188720"/>
            <a:ext cx="3657600" cy="1920240"/>
          </a:xfrm>
          <a:prstGeom prst="roundRect">
            <a:avLst/>
          </a:prstGeom>
          <a:solidFill>
            <a:srgbClr val="EEF3FA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78D4"/>
                </a:solidFill>
                <a:latin typeface="Calibri"/>
              </a:rPr>
              <a:t>Pagination everywhere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050">
                <a:solidFill>
                  <a:srgbClr val="222E3B"/>
                </a:solidFill>
                <a:latin typeface="Calibri"/>
              </a:rPr>
              <a:t>Every list read loops on @odata.nextLink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050">
                <a:solidFill>
                  <a:srgbClr val="222E3B"/>
                </a:solidFill>
                <a:latin typeface="Calibri"/>
              </a:rPr>
              <a:t>Old code stopped at page 1: 100 devices, 500 apps - silent truncation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70248" y="1188720"/>
            <a:ext cx="3657600" cy="1920240"/>
          </a:xfrm>
          <a:prstGeom prst="roundRect">
            <a:avLst/>
          </a:prstGeom>
          <a:solidFill>
            <a:srgbClr val="EEF3FA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78D4"/>
                </a:solidFill>
                <a:latin typeface="Calibri"/>
              </a:rPr>
              <a:t>Throttle-aware retries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050">
                <a:solidFill>
                  <a:srgbClr val="222E3B"/>
                </a:solidFill>
                <a:latin typeface="Calibri"/>
              </a:rPr>
              <a:t>Exponential backoff + jitter on 429/500/502/503/504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050">
                <a:solidFill>
                  <a:srgbClr val="222E3B"/>
                </a:solidFill>
                <a:latin typeface="Calibri"/>
              </a:rPr>
              <a:t>6 attempts, delay capped at 60s, then rethrow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29015" y="1188720"/>
            <a:ext cx="3657600" cy="1920240"/>
          </a:xfrm>
          <a:prstGeom prst="roundRect">
            <a:avLst/>
          </a:prstGeom>
          <a:solidFill>
            <a:srgbClr val="EEF3FA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78D4"/>
                </a:solidFill>
                <a:latin typeface="Calibri"/>
              </a:rPr>
              <a:t>JSON $batch writes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050">
                <a:solidFill>
                  <a:srgbClr val="222E3B"/>
                </a:solidFill>
                <a:latin typeface="Calibri"/>
              </a:rPr>
              <a:t>20 membership ops per HTTP call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050">
                <a:solidFill>
                  <a:srgbClr val="222E3B"/>
                </a:solidFill>
                <a:latin typeface="Calibri"/>
              </a:rPr>
              <a:t>5,000 devices ≈ 250 calls instead of ~10,000 individual POSTs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3291839"/>
            <a:ext cx="3657600" cy="1920240"/>
          </a:xfrm>
          <a:prstGeom prst="roundRect">
            <a:avLst/>
          </a:prstGeom>
          <a:solidFill>
            <a:srgbClr val="EEF3FA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78D4"/>
                </a:solidFill>
                <a:latin typeface="Calibri"/>
              </a:rPr>
              <a:t>Input validation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050">
                <a:solidFill>
                  <a:srgbClr val="222E3B"/>
                </a:solidFill>
                <a:latin typeface="Calibri"/>
              </a:rPr>
              <a:t>Device ids must be GUIDs; invalid ids counted + skipped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050">
                <a:solidFill>
                  <a:srgbClr val="222E3B"/>
                </a:solidFill>
                <a:latin typeface="Calibri"/>
              </a:rPr>
              <a:t>If every target id is invalid the sync aborts - a bad feed cannot empty a group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70248" y="3291839"/>
            <a:ext cx="3657600" cy="1920240"/>
          </a:xfrm>
          <a:prstGeom prst="roundRect">
            <a:avLst/>
          </a:prstGeom>
          <a:solidFill>
            <a:srgbClr val="EEF3FA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78D4"/>
                </a:solidFill>
                <a:latin typeface="Calibri"/>
              </a:rPr>
              <a:t>Directory ownership guard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050">
                <a:solidFill>
                  <a:srgbClr val="222E3B"/>
                </a:solidFill>
                <a:latin typeface="Calibri"/>
              </a:rPr>
              <a:t>Groups are only modified if the description contains 'Managed by automation'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050">
                <a:solidFill>
                  <a:srgbClr val="222E3B"/>
                </a:solidFill>
                <a:latin typeface="Calibri"/>
              </a:rPr>
              <a:t>Look-alike groups created by humans get a warning, not a rewrite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29015" y="3291839"/>
            <a:ext cx="3657600" cy="1920240"/>
          </a:xfrm>
          <a:prstGeom prst="roundRect">
            <a:avLst/>
          </a:prstGeom>
          <a:solidFill>
            <a:srgbClr val="EEF3FA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78D4"/>
                </a:solidFill>
                <a:latin typeface="Calibri"/>
              </a:rPr>
              <a:t>Fault isolation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050">
                <a:solidFill>
                  <a:srgbClr val="222E3B"/>
                </a:solidFill>
                <a:latin typeface="Calibri"/>
              </a:rPr>
              <a:t>Each group sync is its own try/catch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050">
                <a:solidFill>
                  <a:srgbClr val="222E3B"/>
                </a:solidFill>
                <a:latin typeface="Calibri"/>
              </a:rPr>
              <a:t>Benign 409 (already member) / 404 (gone) are skipped; real errors count toward failures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5440680"/>
            <a:ext cx="11365992" cy="594360"/>
          </a:xfrm>
          <a:prstGeom prst="roundRect">
            <a:avLst/>
          </a:prstGeom>
          <a:solidFill>
            <a:srgbClr val="DCEAF8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100" b="1">
                <a:solidFill>
                  <a:srgbClr val="1B3A5B"/>
                </a:solidFill>
                <a:latin typeface="Calibri"/>
              </a:rPr>
              <a:t>Failure model: fatal errors and any non-benign membership failures make the runbook throw → Azure Automation marks the job Failed → your alert fires. Success is explicit, not assumed.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95097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Group Lifecycle &amp; Naming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27432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FE4F8"/>
                </a:solidFill>
                <a:latin typeface="Calibri"/>
              </a:rPr>
              <a:t>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55664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B6B7C"/>
                </a:solidFill>
                <a:latin typeface="Calibri"/>
              </a:rPr>
              <a:t>Intune Patch &amp; App Remediation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55664"/>
            <a:ext cx="640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B6B7C"/>
                </a:solidFill>
                <a:latin typeface="Calibri"/>
              </a:rPr>
              <a:t>9</a:t>
            </a:r>
          </a:p>
        </p:txBody>
      </p:sp>
      <p:sp>
        <p:nvSpPr>
          <p:cNvPr id="7" name="Chevron 6"/>
          <p:cNvSpPr/>
          <p:nvPr/>
        </p:nvSpPr>
        <p:spPr>
          <a:xfrm>
            <a:off x="365760" y="1371600"/>
            <a:ext cx="2377440" cy="1097280"/>
          </a:xfrm>
          <a:prstGeom prst="chevron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4572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No group</a:t>
            </a:r>
          </a:p>
          <a:p>
            <a:pPr algn="ctr"/>
            <a:r>
              <a:rPr sz="850">
                <a:solidFill>
                  <a:srgbClr val="D6EAFB"/>
                </a:solidFill>
                <a:latin typeface="Calibri"/>
              </a:rPr>
              <a:t>error code absent</a:t>
            </a:r>
          </a:p>
        </p:txBody>
      </p:sp>
      <p:sp>
        <p:nvSpPr>
          <p:cNvPr id="8" name="Chevron 7"/>
          <p:cNvSpPr/>
          <p:nvPr/>
        </p:nvSpPr>
        <p:spPr>
          <a:xfrm>
            <a:off x="2697480" y="1371600"/>
            <a:ext cx="2377440" cy="1097280"/>
          </a:xfrm>
          <a:prstGeom prst="chevron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4572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Created + members</a:t>
            </a:r>
          </a:p>
          <a:p>
            <a:pPr algn="ctr"/>
            <a:r>
              <a:rPr sz="850">
                <a:solidFill>
                  <a:srgbClr val="D6EAFB"/>
                </a:solidFill>
                <a:latin typeface="Calibri"/>
              </a:rPr>
              <a:t>first failure appears</a:t>
            </a:r>
          </a:p>
        </p:txBody>
      </p:sp>
      <p:sp>
        <p:nvSpPr>
          <p:cNvPr id="9" name="Chevron 8"/>
          <p:cNvSpPr/>
          <p:nvPr/>
        </p:nvSpPr>
        <p:spPr>
          <a:xfrm>
            <a:off x="5029200" y="1371600"/>
            <a:ext cx="2377440" cy="1097280"/>
          </a:xfrm>
          <a:prstGeom prst="chevron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4572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Re-synced daily</a:t>
            </a:r>
          </a:p>
          <a:p>
            <a:pPr algn="ctr"/>
            <a:r>
              <a:rPr sz="850">
                <a:solidFill>
                  <a:srgbClr val="D6EAFB"/>
                </a:solidFill>
                <a:latin typeface="Calibri"/>
              </a:rPr>
              <a:t>membership tracks state</a:t>
            </a:r>
          </a:p>
        </p:txBody>
      </p:sp>
      <p:sp>
        <p:nvSpPr>
          <p:cNvPr id="10" name="Chevron 9"/>
          <p:cNvSpPr/>
          <p:nvPr/>
        </p:nvSpPr>
        <p:spPr>
          <a:xfrm>
            <a:off x="7360920" y="1371600"/>
            <a:ext cx="2377440" cy="1097280"/>
          </a:xfrm>
          <a:prstGeom prst="chevron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4572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Emptied</a:t>
            </a:r>
          </a:p>
          <a:p>
            <a:pPr algn="ctr"/>
            <a:r>
              <a:rPr sz="850">
                <a:solidFill>
                  <a:srgbClr val="D6EAFB"/>
                </a:solidFill>
                <a:latin typeface="Calibri"/>
              </a:rPr>
              <a:t>code no longer occurs</a:t>
            </a:r>
          </a:p>
        </p:txBody>
      </p:sp>
      <p:sp>
        <p:nvSpPr>
          <p:cNvPr id="11" name="Chevron 10"/>
          <p:cNvSpPr/>
          <p:nvPr/>
        </p:nvSpPr>
        <p:spPr>
          <a:xfrm>
            <a:off x="9692640" y="1371600"/>
            <a:ext cx="2377440" cy="1097280"/>
          </a:xfrm>
          <a:prstGeom prst="chevron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4572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Deleted</a:t>
            </a:r>
          </a:p>
          <a:p>
            <a:pPr algn="ctr"/>
            <a:r>
              <a:rPr sz="850">
                <a:solidFill>
                  <a:srgbClr val="D6EAFB"/>
                </a:solidFill>
                <a:latin typeface="Calibri"/>
              </a:rPr>
              <a:t>only with -Cleanup flag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2926080"/>
            <a:ext cx="5532120" cy="1554480"/>
          </a:xfrm>
          <a:prstGeom prst="roundRect">
            <a:avLst/>
          </a:prstGeom>
          <a:solidFill>
            <a:srgbClr val="EEF3FA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78D4"/>
                </a:solidFill>
                <a:latin typeface="Calibri"/>
              </a:rPr>
              <a:t>Ownership marker (safety rail)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00">
                <a:solidFill>
                  <a:srgbClr val="222E3B"/>
                </a:solidFill>
                <a:latin typeface="Calibri"/>
              </a:rPr>
              <a:t>Created groups get: 'Managed by automation' in the description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00">
                <a:solidFill>
                  <a:srgbClr val="222E3B"/>
                </a:solidFill>
                <a:latin typeface="Calibri"/>
              </a:rPr>
              <a:t>Marker present → sync, empty, or (with flag) delete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00">
                <a:solidFill>
                  <a:srgbClr val="222E3B"/>
                </a:solidFill>
                <a:latin typeface="Calibri"/>
              </a:rPr>
              <a:t>Marker absent → warn and leave alone, even if the name matches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5352" y="2926080"/>
            <a:ext cx="5532120" cy="1554480"/>
          </a:xfrm>
          <a:prstGeom prst="roundRect">
            <a:avLst/>
          </a:prstGeom>
          <a:solidFill>
            <a:srgbClr val="EEF3FA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78D4"/>
                </a:solidFill>
                <a:latin typeface="Calibri"/>
              </a:rPr>
              <a:t>Naming (stable - not renamed)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00">
                <a:solidFill>
                  <a:srgbClr val="222E3B"/>
                </a:solidFill>
                <a:latin typeface="Calibri"/>
              </a:rPr>
              <a:t>Intune-PatchError--2147024784   (prefix + '-' + negative code = double dash)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00">
                <a:solidFill>
                  <a:srgbClr val="222E3B"/>
                </a:solidFill>
                <a:latin typeface="Calibri"/>
              </a:rPr>
              <a:t>Intune-AppError-1618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00">
                <a:solidFill>
                  <a:srgbClr val="222E3B"/>
                </a:solidFill>
                <a:latin typeface="Calibri"/>
              </a:rPr>
              <a:t>mailNickname sanitized to [a-zA-Z0-9]; display names preserved for existing tenants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4754880"/>
            <a:ext cx="11365992" cy="1188720"/>
          </a:xfrm>
          <a:prstGeom prst="roundRect">
            <a:avLst/>
          </a:prstGeom>
          <a:solidFill>
            <a:srgbClr val="FDF3E7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150" b="0">
                <a:solidFill>
                  <a:srgbClr val="8A5300"/>
                </a:solidFill>
                <a:latin typeface="Calibri"/>
              </a:rPr>
              <a:t>Why empty instead of delete?  An Intune assignment may target the group. Keeping the group with zero members simply stops the assignment from applying - deleting it would silently drop the assignment's scope. -CleanupOrphanedGroups is the explicit opt-in for removing the empty shell too.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95097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The Contract: Exit Codes and Report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27432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FE4F8"/>
                </a:solidFill>
                <a:latin typeface="Calibri"/>
              </a:rPr>
              <a:t>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55664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B6B7C"/>
                </a:solidFill>
                <a:latin typeface="Calibri"/>
              </a:rPr>
              <a:t>Intune Patch &amp; App Remediation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55664"/>
            <a:ext cx="640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B6B7C"/>
                </a:solidFill>
                <a:latin typeface="Calibri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188720"/>
            <a:ext cx="5532120" cy="1508760"/>
          </a:xfrm>
          <a:prstGeom prst="roundRect">
            <a:avLst/>
          </a:prstGeom>
          <a:solidFill>
            <a:srgbClr val="EEF3FA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78D4"/>
                </a:solidFill>
                <a:latin typeface="Calibri"/>
              </a:rPr>
              <a:t>Detection script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1" sz="1100">
                <a:solidFill>
                  <a:srgbClr val="222E3B"/>
                </a:solidFill>
                <a:latin typeface="Calibri"/>
              </a:rPr>
              <a:t>exit 0 → compliant: </a:t>
            </a:r>
            <a:r>
              <a:rPr b="0" sz="1100">
                <a:solidFill>
                  <a:srgbClr val="222E3B"/>
                </a:solidFill>
                <a:latin typeface="Calibri"/>
              </a:rPr>
              <a:t>take no action, device is fine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1" sz="1100">
                <a:solidFill>
                  <a:srgbClr val="222E3B"/>
                </a:solidFill>
                <a:latin typeface="Calibri"/>
              </a:rPr>
              <a:t>exit 1 → non-compliant: </a:t>
            </a:r>
            <a:r>
              <a:rPr b="0" sz="1100">
                <a:solidFill>
                  <a:srgbClr val="222E3B"/>
                </a:solidFill>
                <a:latin typeface="Calibri"/>
              </a:rPr>
              <a:t>run the remediation script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1" sz="1100">
                <a:solidFill>
                  <a:srgbClr val="222E3B"/>
                </a:solidFill>
                <a:latin typeface="Calibri"/>
              </a:rPr>
              <a:t>Detection error → exit 0 by default: </a:t>
            </a:r>
            <a:r>
              <a:rPr b="0" sz="1100">
                <a:solidFill>
                  <a:srgbClr val="222E3B"/>
                </a:solidFill>
                <a:latin typeface="Calibri"/>
              </a:rPr>
              <a:t>a broken check must not trigger fleet-wide fixes (-Strict flips this)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188720"/>
            <a:ext cx="5532120" cy="1508760"/>
          </a:xfrm>
          <a:prstGeom prst="roundRect">
            <a:avLst/>
          </a:prstGeom>
          <a:solidFill>
            <a:srgbClr val="EEF3FA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07C10"/>
                </a:solidFill>
                <a:latin typeface="Calibri"/>
              </a:rPr>
              <a:t>Remediation script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1" sz="1100">
                <a:solidFill>
                  <a:srgbClr val="222E3B"/>
                </a:solidFill>
                <a:latin typeface="Calibri"/>
              </a:rPr>
              <a:t>exit 0 → Verified or Unknown: </a:t>
            </a:r>
            <a:r>
              <a:rPr b="0" sz="1100">
                <a:solidFill>
                  <a:srgbClr val="222E3B"/>
                </a:solidFill>
                <a:latin typeface="Calibri"/>
              </a:rPr>
              <a:t>fixed, or honestly not provable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1" sz="1100">
                <a:solidFill>
                  <a:srgbClr val="222E3B"/>
                </a:solidFill>
                <a:latin typeface="Calibri"/>
              </a:rPr>
              <a:t>exit 1 → Failed: </a:t>
            </a:r>
            <a:r>
              <a:rPr b="0" sz="1100">
                <a:solidFill>
                  <a:srgbClr val="222E3B"/>
                </a:solidFill>
                <a:latin typeface="Calibri"/>
              </a:rPr>
              <a:t>action ran but the condition remains - visible in Intune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1" sz="1100">
                <a:solidFill>
                  <a:srgbClr val="222E3B"/>
                </a:solidFill>
                <a:latin typeface="Calibri"/>
              </a:rPr>
              <a:t>Old behaviour: </a:t>
            </a:r>
            <a:r>
              <a:rPr b="0" sz="1100">
                <a:solidFill>
                  <a:srgbClr val="222E3B"/>
                </a:solidFill>
                <a:latin typeface="Calibri"/>
              </a:rPr>
              <a:t>always exit 0 → broken remediations looked successful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11480" y="2971800"/>
          <a:ext cx="11365992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4206240"/>
                <a:gridCol w="3136392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Output line</a:t>
                      </a:r>
                    </a:p>
                  </a:txBody>
                  <a:tcPr marL="64008" marR="45720" marT="18288" marB="18288" anchor="ctr">
                    <a:solidFill>
                      <a:srgbClr val="0078D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 marL="64008" marR="45720" marT="18288" marB="18288" anchor="ctr">
                    <a:solidFill>
                      <a:srgbClr val="0078D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Where it appears</a:t>
                      </a:r>
                    </a:p>
                  </a:txBody>
                  <a:tcPr marL="64008" marR="45720" marT="18288" marB="18288" anchor="ctr">
                    <a:solidFill>
                      <a:srgbClr val="0078D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E3B"/>
                          </a:solidFill>
                          <a:latin typeface="Calibri"/>
                        </a:rPr>
                        <a:t>Non-compliant|code|reason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E3B"/>
                          </a:solidFill>
                          <a:latin typeface="Calibri"/>
                        </a:rPr>
                        <a:t>Non-compliant|-2147024784|Low disk space: 2.1 GB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E3B"/>
                          </a:solidFill>
                          <a:latin typeface="Calibri"/>
                        </a:rPr>
                        <a:t>Intune - detection output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E3B"/>
                          </a:solidFill>
                          <a:latin typeface="Calibri"/>
                        </a:rPr>
                        <a:t>State|detail (fixed)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E3B"/>
                          </a:solidFill>
                          <a:latin typeface="Calibri"/>
                        </a:rPr>
                        <a:t>Verified|free space now 12.4 GB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E3B"/>
                          </a:solidFill>
                          <a:latin typeface="Calibri"/>
                        </a:rPr>
                        <a:t>Intune - remediation output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E3B"/>
                          </a:solidFill>
                          <a:latin typeface="Calibri"/>
                        </a:rPr>
                        <a:t>State|detail (not fixed)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E3B"/>
                          </a:solidFill>
                          <a:latin typeface="Calibri"/>
                        </a:rPr>
                        <a:t>Failed|WUServer policy still missing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E3B"/>
                          </a:solidFill>
                          <a:latin typeface="Calibri"/>
                        </a:rPr>
                        <a:t>Intune - remediation output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E3B"/>
                          </a:solidFill>
                          <a:latin typeface="Calibri"/>
                        </a:rPr>
                        <a:t>Reboot / guidance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E3B"/>
                          </a:solidFill>
                          <a:latin typeface="Calibri"/>
                        </a:rPr>
                        <a:t>RebootRequired|reboot pending, not forced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E3B"/>
                          </a:solidFill>
                          <a:latin typeface="Calibri"/>
                        </a:rPr>
                        <a:t>Intune - remediation output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E3B"/>
                          </a:solidFill>
                          <a:latin typeface="Calibri"/>
                        </a:rPr>
                        <a:t>Report-only codes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E3B"/>
                          </a:solidFill>
                          <a:latin typeface="Calibri"/>
                        </a:rPr>
                        <a:t>ProductVersionConflict|fix supersede rules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E3B"/>
                          </a:solidFill>
                          <a:latin typeface="Calibri"/>
                        </a:rPr>
                        <a:t>Intune - remediation output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411480" y="5623560"/>
            <a:ext cx="11365992" cy="548640"/>
          </a:xfrm>
          <a:prstGeom prst="roundRect">
            <a:avLst/>
          </a:prstGeom>
          <a:solidFill>
            <a:srgbClr val="DCEAF8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100" b="1">
                <a:solidFill>
                  <a:srgbClr val="1B3A5B"/>
                </a:solidFill>
                <a:latin typeface="Calibri"/>
              </a:rPr>
              <a:t>Log files per device: %TEMP%\IntuneDetection.log and %TEMP%\IntuneRemediation.log (timestamped, appended, safe to pull during a support call).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95097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Patch Detection: Fast Scan + Targeted Scan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27432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FE4F8"/>
                </a:solidFill>
                <a:latin typeface="Calibri"/>
              </a:rPr>
              <a:t>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55664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B6B7C"/>
                </a:solidFill>
                <a:latin typeface="Calibri"/>
              </a:rPr>
              <a:t>Intune Patch &amp; App Remediation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55664"/>
            <a:ext cx="640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B6B7C"/>
                </a:solidFill>
                <a:latin typeface="Calibri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188720"/>
            <a:ext cx="5532120" cy="3200400"/>
          </a:xfrm>
          <a:prstGeom prst="roundRect">
            <a:avLst/>
          </a:prstGeom>
          <a:solidFill>
            <a:srgbClr val="EEF3FA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78D4"/>
                </a:solidFill>
                <a:latin typeface="Calibri"/>
              </a:rPr>
              <a:t>Full scan (default, every cycle - fast)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1" sz="1100">
                <a:solidFill>
                  <a:srgbClr val="222E3B"/>
                </a:solidFill>
                <a:latin typeface="Calibri"/>
              </a:rPr>
              <a:t>1. </a:t>
            </a:r>
            <a:r>
              <a:rPr b="0" sz="1100">
                <a:solidFill>
                  <a:srgbClr val="222E3B"/>
                </a:solidFill>
                <a:latin typeface="Calibri"/>
              </a:rPr>
              <a:t>pending reboot: registry VALUE PendingFileRenameOperations, WU RebootRequired, CBS RebootPending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1" sz="1100">
                <a:solidFill>
                  <a:srgbClr val="222E3B"/>
                </a:solidFill>
                <a:latin typeface="Calibri"/>
              </a:rPr>
              <a:t>2. </a:t>
            </a:r>
            <a:r>
              <a:rPr b="0" sz="1100">
                <a:solidFill>
                  <a:srgbClr val="222E3B"/>
                </a:solidFill>
                <a:latin typeface="Calibri"/>
              </a:rPr>
              <a:t>disk free &lt; 5 GB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1" sz="1100">
                <a:solidFill>
                  <a:srgbClr val="222E3B"/>
                </a:solidFill>
                <a:latin typeface="Calibri"/>
              </a:rPr>
              <a:t>3. </a:t>
            </a:r>
            <a:r>
              <a:rPr b="0" sz="1100">
                <a:solidFill>
                  <a:srgbClr val="222E3B"/>
                </a:solidFill>
                <a:latin typeface="Calibri"/>
              </a:rPr>
              <a:t>free memory &lt; 256 MB (was mislabeled 1 MB = 1 GB)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1" sz="1100">
                <a:solidFill>
                  <a:srgbClr val="222E3B"/>
                </a:solidFill>
                <a:latin typeface="Calibri"/>
              </a:rPr>
              <a:t>4. </a:t>
            </a:r>
            <a:r>
              <a:rPr b="0" sz="1100">
                <a:solidFill>
                  <a:srgbClr val="222E3B"/>
                </a:solidFill>
                <a:latin typeface="Calibri"/>
              </a:rPr>
              <a:t>BITS: disabled service or errored jobs (not 'not running' - Manual start is normal)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1" sz="1100">
                <a:solidFill>
                  <a:srgbClr val="222E3B"/>
                </a:solidFill>
                <a:latin typeface="Calibri"/>
              </a:rPr>
              <a:t>5. </a:t>
            </a:r>
            <a:r>
              <a:rPr b="0" sz="1100">
                <a:solidFill>
                  <a:srgbClr val="222E3B"/>
                </a:solidFill>
                <a:latin typeface="Calibri"/>
              </a:rPr>
              <a:t>partial WSUS policy, or missing WUServer with -RequireWUServer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1" sz="1100">
                <a:solidFill>
                  <a:srgbClr val="222E3B"/>
                </a:solidFill>
                <a:latin typeface="Calibri"/>
              </a:rPr>
              <a:t>6. </a:t>
            </a:r>
            <a:r>
              <a:rPr b="0" sz="1100">
                <a:solidFill>
                  <a:srgbClr val="222E3B"/>
                </a:solidFill>
                <a:latin typeface="Calibri"/>
              </a:rPr>
              <a:t>DISM CheckHealth only with -IncludeSlowChecks (slow, so not in the hot path)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188720"/>
            <a:ext cx="5532120" cy="3200400"/>
          </a:xfrm>
          <a:prstGeom prst="roundRect">
            <a:avLst/>
          </a:prstGeom>
          <a:solidFill>
            <a:srgbClr val="EEF3FA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5A9E"/>
                </a:solidFill>
                <a:latin typeface="Calibri"/>
              </a:rPr>
              <a:t>Targeted scan (-TargetErrorCode, group context)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00">
                <a:solidFill>
                  <a:srgbClr val="222E3B"/>
                </a:solidFill>
                <a:latin typeface="Calibri"/>
              </a:rPr>
              <a:t>One switch case per code, stricter because the group proves intent: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1" sz="1100">
                <a:solidFill>
                  <a:srgbClr val="222E3B"/>
                </a:solidFill>
                <a:latin typeface="Calibri"/>
              </a:rPr>
              <a:t>-2145107951: </a:t>
            </a:r>
            <a:r>
              <a:rPr b="0" sz="1100">
                <a:solidFill>
                  <a:srgbClr val="222E3B"/>
                </a:solidFill>
                <a:latin typeface="Calibri"/>
              </a:rPr>
              <a:t>missing WUServer IS non-compliant here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1" sz="1100">
                <a:solidFill>
                  <a:srgbClr val="222E3B"/>
                </a:solidFill>
                <a:latin typeface="Calibri"/>
              </a:rPr>
              <a:t>-2147010798: </a:t>
            </a:r>
            <a:r>
              <a:rPr b="0" sz="1100">
                <a:solidFill>
                  <a:srgbClr val="222E3B"/>
                </a:solidFill>
                <a:latin typeface="Calibri"/>
              </a:rPr>
              <a:t>DISM CheckHealth (exit code + 0x80073712 + text - locale tolerant)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1" sz="1100">
                <a:solidFill>
                  <a:srgbClr val="222E3B"/>
                </a:solidFill>
                <a:latin typeface="Calibri"/>
              </a:rPr>
              <a:t>-2147012886: </a:t>
            </a:r>
            <a:r>
              <a:rPr b="0" sz="1100">
                <a:solidFill>
                  <a:srgbClr val="222E3B"/>
                </a:solidFill>
                <a:latin typeface="Calibri"/>
              </a:rPr>
              <a:t>resolve the WUServer host; cloud-only (no server) = compliant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1" sz="1100">
                <a:solidFill>
                  <a:srgbClr val="222E3B"/>
                </a:solidFill>
                <a:latin typeface="Calibri"/>
              </a:rPr>
              <a:t>-2147023436 / -2145124305: </a:t>
            </a:r>
            <a:r>
              <a:rPr b="0" sz="1100">
                <a:solidFill>
                  <a:srgbClr val="222E3B"/>
                </a:solidFill>
                <a:latin typeface="Calibri"/>
              </a:rPr>
              <a:t>BITS disabled or jobs in error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1" sz="1100">
                <a:solidFill>
                  <a:srgbClr val="222E3B"/>
                </a:solidFill>
                <a:latin typeface="Calibri"/>
              </a:rPr>
              <a:t>-2147023890: </a:t>
            </a:r>
            <a:r>
              <a:rPr b="0" sz="1100">
                <a:solidFill>
                  <a:srgbClr val="222E3B"/>
                </a:solidFill>
                <a:latin typeface="Calibri"/>
              </a:rPr>
              <a:t>volume dirty bit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1" sz="1100">
                <a:solidFill>
                  <a:srgbClr val="222E3B"/>
                </a:solidFill>
                <a:latin typeface="Calibri"/>
              </a:rPr>
              <a:t>unknown code: </a:t>
            </a:r>
            <a:r>
              <a:rPr b="0" sz="1100">
                <a:solidFill>
                  <a:srgbClr val="222E3B"/>
                </a:solidFill>
                <a:latin typeface="Calibri"/>
              </a:rPr>
              <a:t>compliant - never loop on codes we cannot verify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4572000"/>
            <a:ext cx="11365992" cy="1463040"/>
          </a:xfrm>
          <a:prstGeom prst="roundRect">
            <a:avLst/>
          </a:prstGeom>
          <a:solidFill>
            <a:srgbClr val="EEF3FA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C43E1C"/>
                </a:solidFill>
                <a:latin typeface="Calibri"/>
              </a:rPr>
              <a:t>Bugs fixed in detection (all verified by tests / smoke runs)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050">
                <a:solidFill>
                  <a:srgbClr val="222E3B"/>
                </a:solidFill>
                <a:latin typeface="Calibri"/>
              </a:rPr>
              <a:t>Test-Path on PendingFileRenameOperations returned False for a registry VALUE - pending reboots were never detected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050">
                <a:solidFill>
                  <a:srgbClr val="222E3B"/>
                </a:solidFill>
                <a:latin typeface="Calibri"/>
              </a:rPr>
              <a:t>WUServer-missing flagged every cloud-only device in full scan → daily false-positive remediation fleet-wide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050">
                <a:solidFill>
                  <a:srgbClr val="222E3B"/>
                </a:solidFill>
                <a:latin typeface="Calibri"/>
              </a:rPr>
              <a:t>DISM output matched English-only text → broken on localized Windows; now exit code + hex marker + text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050">
                <a:solidFill>
                  <a:srgbClr val="222E3B"/>
                </a:solidFill>
                <a:latin typeface="Calibri"/>
              </a:rPr>
              <a:t>Get-BitsTransfer 'count &gt; 1' / 'BITS not running' heuristics false-positived on normal installs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95097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Patch Remediation Matrix (1 of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27432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FE4F8"/>
                </a:solidFill>
                <a:latin typeface="Calibri"/>
              </a:rPr>
              <a:t>Remediation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55664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B6B7C"/>
                </a:solidFill>
                <a:latin typeface="Calibri"/>
              </a:rPr>
              <a:t>Intune Patch &amp; App Remediation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55664"/>
            <a:ext cx="640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B6B7C"/>
                </a:solidFill>
                <a:latin typeface="Calibri"/>
              </a:rPr>
              <a:t>12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188720"/>
          <a:ext cx="11365992" cy="43525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645920"/>
                <a:gridCol w="5029200"/>
                <a:gridCol w="3136392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Code (dec)</a:t>
                      </a:r>
                    </a:p>
                  </a:txBody>
                  <a:tcPr marL="64008" marR="45720" marT="18288" marB="18288" anchor="ctr">
                    <a:solidFill>
                      <a:srgbClr val="0078D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 marL="64008" marR="45720" marT="18288" marB="18288" anchor="ctr">
                    <a:solidFill>
                      <a:srgbClr val="0078D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Action taken</a:t>
                      </a:r>
                    </a:p>
                  </a:txBody>
                  <a:tcPr marL="64008" marR="45720" marT="18288" marB="18288" anchor="ctr">
                    <a:solidFill>
                      <a:srgbClr val="0078D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Verification</a:t>
                      </a:r>
                    </a:p>
                  </a:txBody>
                  <a:tcPr marL="64008" marR="45720" marT="18288" marB="18288" anchor="ctr">
                    <a:solidFill>
                      <a:srgbClr val="0078D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E3B"/>
                          </a:solidFill>
                          <a:latin typeface="Calibri"/>
                        </a:rPr>
                        <a:t>-2147024784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E3B"/>
                          </a:solidFill>
                          <a:latin typeface="Calibri"/>
                        </a:rPr>
                        <a:t>Disk space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E3B"/>
                          </a:solidFill>
                          <a:latin typeface="Calibri"/>
                        </a:rPr>
                        <a:t>Temp files &gt;24h + WU download cache removed; DISM StartComponentCleanup (no /ResetBase)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E3B"/>
                          </a:solidFill>
                          <a:latin typeface="Calibri"/>
                        </a:rPr>
                        <a:t>Free space re-check → Verified / Failed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E3B"/>
                          </a:solidFill>
                          <a:latin typeface="Calibri"/>
                        </a:rPr>
                        <a:t>-2147021879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E3B"/>
                          </a:solidFill>
                          <a:latin typeface="Calibri"/>
                        </a:rPr>
                        <a:t>Reboot pending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E3B"/>
                          </a:solidFill>
                          <a:latin typeface="Calibri"/>
                        </a:rPr>
                        <a:t>Report only - never forces a reboot (org policy)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E3B"/>
                          </a:solidFill>
                          <a:latin typeface="Calibri"/>
                        </a:rPr>
                        <a:t>Unknown + RebootRequired line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E3B"/>
                          </a:solidFill>
                          <a:latin typeface="Calibri"/>
                        </a:rPr>
                        <a:t>-2147010798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E3B"/>
                          </a:solidFill>
                          <a:latin typeface="Calibri"/>
                        </a:rPr>
                        <a:t>Component store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E3B"/>
                          </a:solidFill>
                          <a:latin typeface="Calibri"/>
                        </a:rPr>
                        <a:t>DISM /RestoreHealth + SFC /ScanNow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E3B"/>
                          </a:solidFill>
                          <a:latin typeface="Calibri"/>
                        </a:rPr>
                        <a:t>DISM exit code → Verified / Failed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E3B"/>
                          </a:solidFill>
                          <a:latin typeface="Calibri"/>
                        </a:rPr>
                        <a:t>-2147023436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E3B"/>
                          </a:solidFill>
                          <a:latin typeface="Calibri"/>
                        </a:rPr>
                        <a:t>WU timeout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E3B"/>
                          </a:solidFill>
                          <a:latin typeface="Calibri"/>
                        </a:rPr>
                        <a:t>Enable BITS if disabled; reset WU cache (wuauserv/bits/cryptsvc)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E3B"/>
                          </a:solidFill>
                          <a:latin typeface="Calibri"/>
                        </a:rPr>
                        <a:t>BITS enabled + no errored jobs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E3B"/>
                          </a:solidFill>
                          <a:latin typeface="Calibri"/>
                        </a:rPr>
                        <a:t>-2145107951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E3B"/>
                          </a:solidFill>
                          <a:latin typeface="Calibri"/>
                        </a:rPr>
                        <a:t>WUServer missing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E3B"/>
                          </a:solidFill>
                          <a:latin typeface="Calibri"/>
                        </a:rPr>
                        <a:t>gpupdate /force, restart wuauserv, log policy keys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E3B"/>
                          </a:solidFill>
                          <a:latin typeface="Calibri"/>
                        </a:rPr>
                        <a:t>WUServer present → Verified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E3B"/>
                          </a:solidFill>
                          <a:latin typeface="Calibri"/>
                        </a:rPr>
                        <a:t>-2147012886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E3B"/>
                          </a:solidFill>
                          <a:latin typeface="Calibri"/>
                        </a:rPr>
                        <a:t>DNS failure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E3B"/>
                          </a:solidFill>
                          <a:latin typeface="Calibri"/>
                        </a:rPr>
                        <a:t>flushdns + registerdns + Clear-DnsClientCache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E3B"/>
                          </a:solidFill>
                          <a:latin typeface="Calibri"/>
                        </a:rPr>
                        <a:t>Re-resolve WUServer host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E3B"/>
                          </a:solidFill>
                          <a:latin typeface="Calibri"/>
                        </a:rPr>
                        <a:t>-2145124305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E3B"/>
                          </a:solidFill>
                          <a:latin typeface="Calibri"/>
                        </a:rPr>
                        <a:t>Download failed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E3B"/>
                          </a:solidFill>
                          <a:latin typeface="Calibri"/>
                        </a:rPr>
                        <a:t>Stop BITS, clear Downloader queue, start BITS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E3B"/>
                          </a:solidFill>
                          <a:latin typeface="Calibri"/>
                        </a:rPr>
                        <a:t>No jobs in Error state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11480" y="5669280"/>
            <a:ext cx="11365992" cy="502920"/>
          </a:xfrm>
          <a:prstGeom prst="roundRect">
            <a:avLst/>
          </a:prstGeom>
          <a:solidFill>
            <a:srgbClr val="DCEAF8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100" b="1">
                <a:solidFill>
                  <a:srgbClr val="1B3A5B"/>
                </a:solidFill>
                <a:latin typeface="Calibri"/>
              </a:rPr>
              <a:t>Every row is idempotent: re-running on the next cycle is harmless, and verification decides the exit code.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95097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Patch Remediation Matrix (2 of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27432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FE4F8"/>
                </a:solidFill>
                <a:latin typeface="Calibri"/>
              </a:rPr>
              <a:t>Remediation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55664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B6B7C"/>
                </a:solidFill>
                <a:latin typeface="Calibri"/>
              </a:rPr>
              <a:t>Intune Patch &amp; App Remediation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55664"/>
            <a:ext cx="640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B6B7C"/>
                </a:solidFill>
                <a:latin typeface="Calibri"/>
              </a:rPr>
              <a:t>13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188720"/>
          <a:ext cx="5577840" cy="3438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371600"/>
                <a:gridCol w="278892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Code</a:t>
                      </a:r>
                    </a:p>
                  </a:txBody>
                  <a:tcPr marL="64008" marR="45720" marT="18288" marB="18288" anchor="ctr">
                    <a:solidFill>
                      <a:srgbClr val="0078D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 marL="64008" marR="45720" marT="18288" marB="18288" anchor="ctr">
                    <a:solidFill>
                      <a:srgbClr val="0078D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Action</a:t>
                      </a:r>
                    </a:p>
                  </a:txBody>
                  <a:tcPr marL="64008" marR="45720" marT="18288" marB="18288" anchor="ctr">
                    <a:solidFill>
                      <a:srgbClr val="0078D4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E3B"/>
                          </a:solidFill>
                          <a:latin typeface="Calibri"/>
                        </a:rPr>
                        <a:t>-2147012855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E3B"/>
                          </a:solidFill>
                          <a:latin typeface="Calibri"/>
                        </a:rPr>
                        <a:t>Network timeout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E3B"/>
                          </a:solidFill>
                          <a:latin typeface="Calibri"/>
                        </a:rPr>
                        <a:t>DNS cache + WU reset (no winsock - breaks VPN/LSP); guidance emitted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E3B"/>
                          </a:solidFill>
                          <a:latin typeface="Calibri"/>
                        </a:rPr>
                        <a:t>-2147012867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E3B"/>
                          </a:solidFill>
                          <a:latin typeface="Calibri"/>
                        </a:rPr>
                        <a:t>Server connect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E3B"/>
                          </a:solidFill>
                          <a:latin typeface="Calibri"/>
                        </a:rPr>
                        <a:t>Restart WU services; log proxy + WSUS config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E3B"/>
                          </a:solidFill>
                          <a:latin typeface="Calibri"/>
                        </a:rPr>
                        <a:t>-2145124320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E3B"/>
                          </a:solidFill>
                          <a:latin typeface="Calibri"/>
                        </a:rPr>
                        <a:t>No user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E3B"/>
                          </a:solidFill>
                          <a:latin typeface="Calibri"/>
                        </a:rPr>
                        <a:t>Report uptime only - transient, no changes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E3B"/>
                          </a:solidFill>
                          <a:latin typeface="Calibri"/>
                        </a:rPr>
                        <a:t>-2145124341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E3B"/>
                          </a:solidFill>
                          <a:latin typeface="Calibri"/>
                        </a:rPr>
                        <a:t>Cancelled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E3B"/>
                          </a:solidFill>
                          <a:latin typeface="Calibri"/>
                        </a:rPr>
                        <a:t>WU cache reset + wuauclt resync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E3B"/>
                          </a:solidFill>
                          <a:latin typeface="Calibri"/>
                        </a:rPr>
                        <a:t>-2147467260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E3B"/>
                          </a:solidFill>
                          <a:latin typeface="Calibri"/>
                        </a:rPr>
                        <a:t>Aborted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E3B"/>
                          </a:solidFill>
                          <a:latin typeface="Calibri"/>
                        </a:rPr>
                        <a:t>WU cache reset + resync (pending.xml never touched)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E3B"/>
                          </a:solidFill>
                          <a:latin typeface="Calibri"/>
                        </a:rPr>
                        <a:t>-2147467259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E3B"/>
                          </a:solidFill>
                          <a:latin typeface="Calibri"/>
                        </a:rPr>
                        <a:t>Unspecified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E3B"/>
                          </a:solidFill>
                          <a:latin typeface="Calibri"/>
                        </a:rPr>
                        <a:t>Full WU reset (incl. catroot2) + RestoreHealth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45352" y="1188720"/>
          <a:ext cx="5532120" cy="3438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371600"/>
                <a:gridCol w="27432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Code</a:t>
                      </a:r>
                    </a:p>
                  </a:txBody>
                  <a:tcPr marL="64008" marR="45720" marT="18288" marB="18288" anchor="ctr">
                    <a:solidFill>
                      <a:srgbClr val="0078D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 marL="64008" marR="45720" marT="18288" marB="18288" anchor="ctr">
                    <a:solidFill>
                      <a:srgbClr val="0078D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Action</a:t>
                      </a:r>
                    </a:p>
                  </a:txBody>
                  <a:tcPr marL="64008" marR="45720" marT="18288" marB="18288" anchor="ctr">
                    <a:solidFill>
                      <a:srgbClr val="0078D4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E3B"/>
                          </a:solidFill>
                          <a:latin typeface="Calibri"/>
                        </a:rPr>
                        <a:t>-2147024891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E3B"/>
                          </a:solidFill>
                          <a:latin typeface="Calibri"/>
                        </a:rPr>
                        <a:t>Low memory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E3B"/>
                          </a:solidFill>
                          <a:latin typeface="Calibri"/>
                        </a:rPr>
                        <a:t>Report top-5 consumers + pagefile mode - never stops services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E3B"/>
                          </a:solidFill>
                          <a:latin typeface="Calibri"/>
                        </a:rPr>
                        <a:t>-2016409844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E3B"/>
                          </a:solidFill>
                          <a:latin typeface="Calibri"/>
                        </a:rPr>
                        <a:t>Scan timeout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E3B"/>
                          </a:solidFill>
                          <a:latin typeface="Calibri"/>
                        </a:rPr>
                        <a:t>Kill msiexec/tiworker older than 2h only (never trustedinstaller)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E3B"/>
                          </a:solidFill>
                          <a:latin typeface="Calibri"/>
                        </a:rPr>
                        <a:t>-2016409966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E3B"/>
                          </a:solidFill>
                          <a:latin typeface="Calibri"/>
                        </a:rPr>
                        <a:t>Policy conflict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E3B"/>
                          </a:solidFill>
                          <a:latin typeface="Calibri"/>
                        </a:rPr>
                        <a:t>gpresult /h report into %TEMP% for review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E3B"/>
                          </a:solidFill>
                          <a:latin typeface="Calibri"/>
                        </a:rPr>
                        <a:t>-2146777998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E3B"/>
                          </a:solidFill>
                          <a:latin typeface="Calibri"/>
                        </a:rPr>
                        <a:t>WU reg corrupt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E3B"/>
                          </a:solidFill>
                          <a:latin typeface="Calibri"/>
                        </a:rPr>
                        <a:t>gpupdate + WU cache reset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E3B"/>
                          </a:solidFill>
                          <a:latin typeface="Calibri"/>
                        </a:rPr>
                        <a:t>-2147023890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E3B"/>
                          </a:solidFill>
                          <a:latin typeface="Calibri"/>
                        </a:rPr>
                        <a:t>Dirty disk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E3B"/>
                          </a:solidFill>
                          <a:latin typeface="Calibri"/>
                        </a:rPr>
                        <a:t>Read-only Repair-Volume scan; chkdsk /f only with -AllowChkdsk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E3B"/>
                          </a:solidFill>
                          <a:latin typeface="Calibri"/>
                        </a:rPr>
                        <a:t>-2147010815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E3B"/>
                          </a:solidFill>
                          <a:latin typeface="Calibri"/>
                        </a:rPr>
                        <a:t>Assembly missing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E3B"/>
                          </a:solidFill>
                          <a:latin typeface="Calibri"/>
                        </a:rPr>
                        <a:t>DISM /RestoreHealth (exit-code verified)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411480" y="4800600"/>
            <a:ext cx="11365992" cy="1234440"/>
          </a:xfrm>
          <a:prstGeom prst="roundRect">
            <a:avLst/>
          </a:prstGeom>
          <a:solidFill>
            <a:srgbClr val="EEF3FA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0078D4"/>
                </a:solidFill>
                <a:latin typeface="Calibri"/>
              </a:rPr>
              <a:t>-AutoDetect mode (remediation without an error code)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00">
                <a:solidFill>
                  <a:srgbClr val="222E3B"/>
                </a:solidFill>
                <a:latin typeface="Calibri"/>
              </a:rPr>
              <a:t>Checks in order: low disk → pending reboot → BITS disabled → low memory; otherwise exits 0 with 'no known issue'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00">
                <a:solidFill>
                  <a:srgbClr val="222E3B"/>
                </a:solidFill>
                <a:latin typeface="Calibri"/>
              </a:rPr>
              <a:t>Old default ran DISM /RestoreHealth on every unknown state - heavy, slow, and unrelated to most conditions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95097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App Detection &amp; Remediation Heuristics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27432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FE4F8"/>
                </a:solidFill>
                <a:latin typeface="Calibri"/>
              </a:rPr>
              <a:t>Apps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55664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B6B7C"/>
                </a:solidFill>
                <a:latin typeface="Calibri"/>
              </a:rPr>
              <a:t>Intune Patch &amp; App Remediation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55664"/>
            <a:ext cx="640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B6B7C"/>
                </a:solidFill>
                <a:latin typeface="Calibri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188720"/>
            <a:ext cx="5532120" cy="4297680"/>
          </a:xfrm>
          <a:prstGeom prst="roundRect">
            <a:avLst/>
          </a:prstGeom>
          <a:solidFill>
            <a:srgbClr val="EEF3FA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78D4"/>
                </a:solidFill>
                <a:latin typeface="Calibri"/>
              </a:rPr>
              <a:t>Detection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1" sz="1100">
                <a:solidFill>
                  <a:srgbClr val="222E3B"/>
                </a:solidFill>
                <a:latin typeface="Calibri"/>
              </a:rPr>
              <a:t>Pending reboot: </a:t>
            </a:r>
            <a:r>
              <a:rPr b="0" sz="1100">
                <a:solidFill>
                  <a:srgbClr val="222E3B"/>
                </a:solidFill>
                <a:latin typeface="Calibri"/>
              </a:rPr>
              <a:t>same fixed registry-value read as the patch scripts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1" sz="1100">
                <a:solidFill>
                  <a:srgbClr val="222E3B"/>
                </a:solidFill>
                <a:latin typeface="Calibri"/>
              </a:rPr>
              <a:t>1618 install-in-progress: </a:t>
            </a:r>
            <a:r>
              <a:rPr b="0" sz="1100">
                <a:solidFill>
                  <a:srgbClr val="222E3B"/>
                </a:solidFill>
                <a:latin typeface="Calibri"/>
              </a:rPr>
              <a:t>stale heuristic - msiexec running &gt;20 min or &gt;4 processes (count &gt;1 was wrong: a healthy install is 2-3 processes)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1" sz="1100">
                <a:solidFill>
                  <a:srgbClr val="222E3B"/>
                </a:solidFill>
                <a:latin typeface="Calibri"/>
              </a:rPr>
              <a:t>1632 temp unwritable: </a:t>
            </a:r>
            <a:r>
              <a:rPr b="0" sz="1100">
                <a:solidFill>
                  <a:srgbClr val="222E3B"/>
                </a:solidFill>
                <a:latin typeface="Calibri"/>
              </a:rPr>
              <a:t>real write+delete probe in %TEMP% (was a disk-space proxy)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1" sz="1100">
                <a:solidFill>
                  <a:srgbClr val="222E3B"/>
                </a:solidFill>
                <a:latin typeface="Calibri"/>
              </a:rPr>
              <a:t>-2147024784 / -2147024891: </a:t>
            </a:r>
            <a:r>
              <a:rPr b="0" sz="1100">
                <a:solidFill>
                  <a:srgbClr val="222E3B"/>
                </a:solidFill>
                <a:latin typeface="Calibri"/>
              </a:rPr>
              <a:t>disk &lt;5 GB / memory &lt;256 MB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1" sz="1100">
                <a:solidFill>
                  <a:srgbClr val="222E3B"/>
                </a:solidFill>
                <a:latin typeface="Calibri"/>
              </a:rPr>
              <a:t>1638 &amp; -2147024894: </a:t>
            </a:r>
            <a:r>
              <a:rPr b="0" sz="1100">
                <a:solidFill>
                  <a:srgbClr val="222E3B"/>
                </a:solidFill>
                <a:latin typeface="Calibri"/>
              </a:rPr>
              <a:t>report-only - always non-compliant by design so the guidance line refreshes daily in the report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1" sz="1100">
                <a:solidFill>
                  <a:srgbClr val="222E3B"/>
                </a:solidFill>
                <a:latin typeface="Calibri"/>
              </a:rPr>
              <a:t>Unknown target code: </a:t>
            </a:r>
            <a:r>
              <a:rPr b="0" sz="1100">
                <a:solidFill>
                  <a:srgbClr val="222E3B"/>
                </a:solidFill>
                <a:latin typeface="Calibri"/>
              </a:rPr>
              <a:t>compliant (no loop)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188720"/>
            <a:ext cx="5532120" cy="4297680"/>
          </a:xfrm>
          <a:prstGeom prst="roundRect">
            <a:avLst/>
          </a:prstGeom>
          <a:solidFill>
            <a:srgbClr val="EEF3FA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07C10"/>
                </a:solidFill>
                <a:latin typeface="Calibri"/>
              </a:rPr>
              <a:t>Remediation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1" sz="1100">
                <a:solidFill>
                  <a:srgbClr val="222E3B"/>
                </a:solidFill>
                <a:latin typeface="Calibri"/>
              </a:rPr>
              <a:t>1602 user cancel: </a:t>
            </a:r>
            <a:r>
              <a:rPr b="0" sz="1100">
                <a:solidFill>
                  <a:srgbClr val="222E3B"/>
                </a:solidFill>
                <a:latin typeface="Calibri"/>
              </a:rPr>
              <a:t>no-op + 're-assign if unexpected' guidance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1" sz="1100">
                <a:solidFill>
                  <a:srgbClr val="222E3B"/>
                </a:solidFill>
                <a:latin typeface="Calibri"/>
              </a:rPr>
              <a:t>1603 fatal: </a:t>
            </a:r>
            <a:r>
              <a:rPr b="0" sz="1100">
                <a:solidFill>
                  <a:srgbClr val="222E3B"/>
                </a:solidFill>
                <a:latin typeface="Calibri"/>
              </a:rPr>
              <a:t>clear aged temp; kill msiexec only if &gt;30 min old - never all msiexec, never unrelated DISM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1" sz="1100">
                <a:solidFill>
                  <a:srgbClr val="222E3B"/>
                </a:solidFill>
                <a:latin typeface="Calibri"/>
              </a:rPr>
              <a:t>1618: </a:t>
            </a:r>
            <a:r>
              <a:rPr b="0" sz="1100">
                <a:solidFill>
                  <a:srgbClr val="222E3B"/>
                </a:solidFill>
                <a:latin typeface="Calibri"/>
              </a:rPr>
              <a:t>wait up to 15 min for the install to finish; kill only processes &gt;1h old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1" sz="1100">
                <a:solidFill>
                  <a:srgbClr val="222E3B"/>
                </a:solidFill>
                <a:latin typeface="Calibri"/>
              </a:rPr>
              <a:t>1619 package: </a:t>
            </a:r>
            <a:r>
              <a:rPr b="0" sz="1100">
                <a:solidFill>
                  <a:srgbClr val="222E3B"/>
                </a:solidFill>
                <a:latin typeface="Calibri"/>
              </a:rPr>
              <a:t>check temp access, then state 'source path is wrong - re-upload in Intune'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1" sz="1100">
                <a:solidFill>
                  <a:srgbClr val="222E3B"/>
                </a:solidFill>
                <a:latin typeface="Calibri"/>
              </a:rPr>
              <a:t>1632: </a:t>
            </a:r>
            <a:r>
              <a:rPr b="0" sz="1100">
                <a:solidFill>
                  <a:srgbClr val="222E3B"/>
                </a:solidFill>
                <a:latin typeface="Calibri"/>
              </a:rPr>
              <a:t>age-gated temp clear → write probe → Verified / Failed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1" sz="1100">
                <a:solidFill>
                  <a:srgbClr val="222E3B"/>
                </a:solidFill>
                <a:latin typeface="Calibri"/>
              </a:rPr>
              <a:t>-2016281109 script failed: </a:t>
            </a:r>
            <a:r>
              <a:rPr b="0" sz="1100">
                <a:solidFill>
                  <a:srgbClr val="222E3B"/>
                </a:solidFill>
                <a:latin typeface="Calibri"/>
              </a:rPr>
              <a:t>guidance only - execution policy is NOT changed (IME bypasses it, so flipping it never fixed anything)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5669280"/>
            <a:ext cx="11365992" cy="502920"/>
          </a:xfrm>
          <a:prstGeom prst="roundRect">
            <a:avLst/>
          </a:prstGeom>
          <a:solidFill>
            <a:srgbClr val="E3F3E3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100" b="1">
                <a:solidFill>
                  <a:srgbClr val="107C10"/>
                </a:solidFill>
                <a:latin typeface="Calibri"/>
              </a:rPr>
              <a:t>Principle: device-fixable conditions get actions; packaging/config problems get precise guidance in the Intune report - never a blind mutation.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95097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Safety by Design: Before vs After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27432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FE4F8"/>
                </a:solidFill>
                <a:latin typeface="Calibri"/>
              </a:rPr>
              <a:t>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55664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B6B7C"/>
                </a:solidFill>
                <a:latin typeface="Calibri"/>
              </a:rPr>
              <a:t>Intune Patch &amp; App Remediation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55664"/>
            <a:ext cx="640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B6B7C"/>
                </a:solidFill>
                <a:latin typeface="Calibri"/>
              </a:rPr>
              <a:t>15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188720"/>
          <a:ext cx="11365991" cy="4242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3749039"/>
                <a:gridCol w="3685032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Before (risky default)</a:t>
                      </a:r>
                    </a:p>
                  </a:txBody>
                  <a:tcPr marL="64008" marR="45720" marT="18288" marB="18288" anchor="ctr">
                    <a:solidFill>
                      <a:srgbClr val="0078D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After (this repo)</a:t>
                      </a:r>
                    </a:p>
                  </a:txBody>
                  <a:tcPr marL="64008" marR="45720" marT="18288" marB="18288" anchor="ctr">
                    <a:solidFill>
                      <a:srgbClr val="0078D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 marL="64008" marR="45720" marT="18288" marB="18288" anchor="ctr">
                    <a:solidFill>
                      <a:srgbClr val="0078D4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E3B"/>
                          </a:solidFill>
                          <a:latin typeface="Calibri"/>
                        </a:rPr>
                        <a:t>DISM /StartComponentCleanup /ResetBase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E3B"/>
                          </a:solidFill>
                          <a:latin typeface="Calibri"/>
                        </a:rPr>
                        <a:t>StartComponentCleanup only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E3B"/>
                          </a:solidFill>
                          <a:latin typeface="Calibri"/>
                        </a:rPr>
                        <a:t>/ResetBase permanently blocks update uninstalls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E3B"/>
                          </a:solidFill>
                          <a:latin typeface="Calibri"/>
                        </a:rPr>
                        <a:t>chkdsk C: /f /r scheduled automatically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E3B"/>
                          </a:solidFill>
                          <a:latin typeface="Calibri"/>
                        </a:rPr>
                        <a:t>Read-only Repair-Volume scan; /f behind -AllowChkdsk, never /r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E3B"/>
                          </a:solidFill>
                          <a:latin typeface="Calibri"/>
                        </a:rPr>
                        <a:t>/r can occupy the device for hours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E3B"/>
                          </a:solidFill>
                          <a:latin typeface="Calibri"/>
                        </a:rPr>
                        <a:t>Stop every manual-start service on low memory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E3B"/>
                          </a:solidFill>
                          <a:latin typeface="Calibri"/>
                        </a:rPr>
                        <a:t>Report top consumers + pagefile mode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E3B"/>
                          </a:solidFill>
                          <a:latin typeface="Calibri"/>
                        </a:rPr>
                        <a:t>Killing services degrades a working device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E3B"/>
                          </a:solidFill>
                          <a:latin typeface="Calibri"/>
                        </a:rPr>
                        <a:t>netsh winsock / ip reset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E3B"/>
                          </a:solidFill>
                          <a:latin typeface="Calibri"/>
                        </a:rPr>
                        <a:t>DNS cache + WU service restart + guidance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E3B"/>
                          </a:solidFill>
                          <a:latin typeface="Calibri"/>
                        </a:rPr>
                        <a:t>Winsock resets break VPN and LSP software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E3B"/>
                          </a:solidFill>
                          <a:latin typeface="Calibri"/>
                        </a:rPr>
                        <a:t>Delete WinSxS\pending.xml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E3B"/>
                          </a:solidFill>
                          <a:latin typeface="Calibri"/>
                        </a:rPr>
                        <a:t>Never touched; guidance points to CBS.log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E3B"/>
                          </a:solidFill>
                          <a:latin typeface="Calibri"/>
                        </a:rPr>
                        <a:t>Breaks servicing that is in flight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E3B"/>
                          </a:solidFill>
                          <a:latin typeface="Calibri"/>
                        </a:rPr>
                        <a:t>Kill ALL msiexec on 1603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E3B"/>
                          </a:solidFill>
                          <a:latin typeface="Calibri"/>
                        </a:rPr>
                        <a:t>Only processes &gt;30 min old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E3B"/>
                          </a:solidFill>
                          <a:latin typeface="Calibri"/>
                        </a:rPr>
                        <a:t>Aborts healthy installs in progress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E3B"/>
                          </a:solidFill>
                          <a:latin typeface="Calibri"/>
                        </a:rPr>
                        <a:t>Always exit 0 after running steps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E3B"/>
                          </a:solidFill>
                          <a:latin typeface="Calibri"/>
                        </a:rPr>
                        <a:t>Verified / Unknown → 0, Failed → 1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E3B"/>
                          </a:solidFill>
                          <a:latin typeface="Calibri"/>
                        </a:rPr>
                        <a:t>Success must be proven, not assumed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E3B"/>
                          </a:solidFill>
                          <a:latin typeface="Calibri"/>
                        </a:rPr>
                        <a:t>Set execution policy to RemoteSigned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E3B"/>
                          </a:solidFill>
                          <a:latin typeface="Calibri"/>
                        </a:rPr>
                        <a:t>No policy changes; guidance only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E3B"/>
                          </a:solidFill>
                          <a:latin typeface="Calibri"/>
                        </a:rPr>
                        <a:t>IME bypasses policy anyway - pure config drift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11480" y="5806440"/>
            <a:ext cx="11365992" cy="457200"/>
          </a:xfrm>
          <a:prstGeom prst="roundRect">
            <a:avLst/>
          </a:prstGeom>
          <a:solidFill>
            <a:srgbClr val="DCEAF8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100" b="1">
                <a:solidFill>
                  <a:srgbClr val="1B3A5B"/>
                </a:solidFill>
                <a:latin typeface="Calibri"/>
              </a:rPr>
              <a:t>Temp cleanup is also age-gated (files &gt;24h): running installers keep their scratch files.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95097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Testing &amp;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27432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FE4F8"/>
                </a:solidFill>
                <a:latin typeface="Calibri"/>
              </a:rPr>
              <a:t>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55664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B6B7C"/>
                </a:solidFill>
                <a:latin typeface="Calibri"/>
              </a:rPr>
              <a:t>Intune Patch &amp; App Remediation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55664"/>
            <a:ext cx="640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B6B7C"/>
                </a:solidFill>
                <a:latin typeface="Calibri"/>
              </a:rPr>
              <a:t>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188720"/>
          <a:ext cx="7040880" cy="3127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822960"/>
                <a:gridCol w="301752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Suite</a:t>
                      </a:r>
                    </a:p>
                  </a:txBody>
                  <a:tcPr marL="64008" marR="45720" marT="18288" marB="18288" anchor="ctr">
                    <a:solidFill>
                      <a:srgbClr val="0078D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Checks</a:t>
                      </a:r>
                    </a:p>
                  </a:txBody>
                  <a:tcPr marL="64008" marR="45720" marT="18288" marB="18288" anchor="ctr">
                    <a:solidFill>
                      <a:srgbClr val="0078D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What it proves</a:t>
                      </a:r>
                    </a:p>
                  </a:txBody>
                  <a:tcPr marL="64008" marR="45720" marT="18288" marB="18288" anchor="ctr">
                    <a:solidFill>
                      <a:srgbClr val="0078D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E3B"/>
                          </a:solidFill>
                          <a:latin typeface="Calibri"/>
                        </a:rPr>
                        <a:t>Parse check (PS 5.1 parser)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E3B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E3B"/>
                          </a:solidFill>
                          <a:latin typeface="Calibri"/>
                        </a:rPr>
                        <a:t>Every .ps1 compiles - no syntax drift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E3B"/>
                          </a:solidFill>
                          <a:latin typeface="Calibri"/>
                        </a:rPr>
                        <a:t>Dot-source safety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E3B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E3B"/>
                          </a:solidFill>
                          <a:latin typeface="Calibri"/>
                        </a:rPr>
                        <a:t>Loading a script never executes its main block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E3B"/>
                          </a:solidFill>
                          <a:latin typeface="Calibri"/>
                        </a:rPr>
                        <a:t>Graph helpers (mocked)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E3B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E3B"/>
                          </a:solidFill>
                          <a:latin typeface="Calibri"/>
                        </a:rPr>
                        <a:t>Pagination, 429 retry, $batch 20+5 chunking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E3B"/>
                          </a:solidFill>
                          <a:latin typeface="Calibri"/>
                        </a:rPr>
                        <a:t>Membership diff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E3B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E3B"/>
                          </a:solidFill>
                          <a:latin typeface="Calibri"/>
                        </a:rPr>
                        <a:t>Add/remove sets, GUID guard, DryRun, no-op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E3B"/>
                          </a:solidFill>
                          <a:latin typeface="Calibri"/>
                        </a:rPr>
                        <a:t>Detection/remediation units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E3B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E3B"/>
                          </a:solidFill>
                          <a:latin typeface="Calibri"/>
                        </a:rPr>
                        <a:t>Helper contracts (reboot, BITS, temp, outcomes)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E3B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E3B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E3B"/>
                          </a:solidFill>
                          <a:latin typeface="Calibri"/>
                        </a:rPr>
                        <a:t>powershell -File Tests\Run-Tests.ps1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680960" y="1188720"/>
            <a:ext cx="4096512" cy="3383280"/>
          </a:xfrm>
          <a:prstGeom prst="roundRect">
            <a:avLst/>
          </a:prstGeom>
          <a:solidFill>
            <a:srgbClr val="EEF3FA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07C10"/>
                </a:solidFill>
                <a:latin typeface="Calibri"/>
              </a:rPr>
              <a:t>Live smoke runs (this machine)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050">
                <a:solidFill>
                  <a:srgbClr val="222E3B"/>
                </a:solidFill>
                <a:latin typeface="Calibri"/>
              </a:rPr>
              <a:t>Full-scan detection exits 1: 'PendingFileRenameOperations set' - the bug the old code hid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050">
                <a:solidFill>
                  <a:srgbClr val="222E3B"/>
                </a:solidFill>
                <a:latin typeface="Calibri"/>
              </a:rPr>
              <a:t>Targeted WUServer → exit 1; cloud-only DNS target → exit 0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050">
                <a:solidFill>
                  <a:srgbClr val="222E3B"/>
                </a:solidFill>
                <a:latin typeface="Calibri"/>
              </a:rPr>
              <a:t>Unknown code → compliant (no loop)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050">
                <a:solidFill>
                  <a:srgbClr val="222E3B"/>
                </a:solidFill>
                <a:latin typeface="Calibri"/>
              </a:rPr>
              <a:t>Remediation: no code → exit 1; unknown code → exit 1; report-only → exit 0 with State|Detail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050">
                <a:solidFill>
                  <a:srgbClr val="222E3B"/>
                </a:solidFill>
                <a:latin typeface="Calibri"/>
              </a:rPr>
              <a:t>App temp probe → compliant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4297680"/>
            <a:ext cx="7086600" cy="1737360"/>
          </a:xfrm>
          <a:prstGeom prst="roundRect">
            <a:avLst/>
          </a:prstGeom>
          <a:solidFill>
            <a:srgbClr val="EEF3FA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78D4"/>
                </a:solidFill>
                <a:latin typeface="Calibri"/>
              </a:rPr>
              <a:t>Test design: offline by default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00">
                <a:solidFill>
                  <a:srgbClr val="222E3B"/>
                </a:solidFill>
                <a:latin typeface="Calibri"/>
              </a:rPr>
              <a:t>Invoke-MgGraphRequest and Start-Sleep are replaced by mocks - no tenant, no network, no cost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00">
                <a:solidFill>
                  <a:srgbClr val="222E3B"/>
                </a:solidFill>
                <a:latin typeface="Calibri"/>
              </a:rPr>
              <a:t>CI-ready: a non-zero exit code fails the pipeline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00">
                <a:solidFill>
                  <a:srgbClr val="222E3B"/>
                </a:solidFill>
                <a:latin typeface="Calibri"/>
              </a:rPr>
              <a:t>Docs are covered too: the parse check includes this generator's companion scripts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4800600"/>
            <a:ext cx="4096512" cy="1234440"/>
          </a:xfrm>
          <a:prstGeom prst="roundRect">
            <a:avLst/>
          </a:prstGeom>
          <a:solidFill>
            <a:srgbClr val="E3F3E3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300" b="1">
                <a:solidFill>
                  <a:srgbClr val="107C10"/>
                </a:solidFill>
                <a:latin typeface="Calibri"/>
              </a:rPr>
              <a:t>40 / 40 passing
powershell -File
  Tests\Run-Tests.ps1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95097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Deployment: Azure Automation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27432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FE4F8"/>
                </a:solidFill>
                <a:latin typeface="Calibri"/>
              </a:rPr>
              <a:t>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55664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B6B7C"/>
                </a:solidFill>
                <a:latin typeface="Calibri"/>
              </a:rPr>
              <a:t>Intune Patch &amp; App Remediation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55664"/>
            <a:ext cx="640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B6B7C"/>
                </a:solidFill>
                <a:latin typeface="Calibri"/>
              </a:rP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252728"/>
            <a:ext cx="420624" cy="420624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1188720"/>
            <a:ext cx="513892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1200" b="1">
                <a:solidFill>
                  <a:srgbClr val="1B3A5B"/>
                </a:solidFill>
                <a:latin typeface="Calibri"/>
              </a:rPr>
              <a:t>Automation account  </a:t>
            </a:r>
            <a:r>
              <a:rPr sz="1100">
                <a:solidFill>
                  <a:srgbClr val="222E3B"/>
                </a:solidFill>
                <a:latin typeface="Calibri"/>
              </a:rPr>
              <a:t>create with system-assigned managed identity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1252728"/>
            <a:ext cx="420624" cy="420624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75704" y="1188720"/>
            <a:ext cx="513892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1200" b="1">
                <a:solidFill>
                  <a:srgbClr val="1B3A5B"/>
                </a:solidFill>
                <a:latin typeface="Calibri"/>
              </a:rPr>
              <a:t>Graph app roles  </a:t>
            </a:r>
            <a:r>
              <a:rPr sz="1100">
                <a:solidFill>
                  <a:srgbClr val="222E3B"/>
                </a:solidFill>
                <a:latin typeface="Calibri"/>
              </a:rPr>
              <a:t>grant 4 roles to the identity: Directory.Read.All, Group.ReadWrite.All, DeviceManagementManagedDevices.Read.All, DeviceManagementApps.Read.All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2423160"/>
            <a:ext cx="420624" cy="420624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2359152"/>
            <a:ext cx="513892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1200" b="1">
                <a:solidFill>
                  <a:srgbClr val="1B3A5B"/>
                </a:solidFill>
                <a:latin typeface="Calibri"/>
              </a:rPr>
              <a:t>Module  </a:t>
            </a:r>
            <a:r>
              <a:rPr sz="1100">
                <a:solidFill>
                  <a:srgbClr val="222E3B"/>
                </a:solidFill>
                <a:latin typeface="Calibri"/>
              </a:rPr>
              <a:t>import Microsoft.Graph.Authentication only (runbooks use Invoke-MgGraphRequest)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5352" y="2423160"/>
            <a:ext cx="420624" cy="420624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75704" y="2359152"/>
            <a:ext cx="513892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1200" b="1">
                <a:solidFill>
                  <a:srgbClr val="1B3A5B"/>
                </a:solidFill>
                <a:latin typeface="Calibri"/>
              </a:rPr>
              <a:t>Runbooks  </a:t>
            </a:r>
            <a:r>
              <a:rPr sz="1100">
                <a:solidFill>
                  <a:srgbClr val="222E3B"/>
                </a:solidFill>
                <a:latin typeface="Calibri"/>
              </a:rPr>
              <a:t>upload IntuneUpdateErrorGroups.ps1 and App\IntuneAppErrorGroups.ps1, publish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593592"/>
            <a:ext cx="420624" cy="420624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" y="3529584"/>
            <a:ext cx="513892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1200" b="1">
                <a:solidFill>
                  <a:srgbClr val="1B3A5B"/>
                </a:solidFill>
                <a:latin typeface="Calibri"/>
              </a:rPr>
              <a:t>Dry run  </a:t>
            </a:r>
            <a:r>
              <a:rPr sz="1100">
                <a:solidFill>
                  <a:srgbClr val="222E3B"/>
                </a:solidFill>
                <a:latin typeface="Calibri"/>
              </a:rPr>
              <a:t>Start with DryRun = true; review created/synced/planned-add counts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5352" y="3593592"/>
            <a:ext cx="420624" cy="420624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75704" y="3529584"/>
            <a:ext cx="513892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1200" b="1">
                <a:solidFill>
                  <a:srgbClr val="1B3A5B"/>
                </a:solidFill>
                <a:latin typeface="Calibri"/>
              </a:rPr>
              <a:t>Schedule  </a:t>
            </a:r>
            <a:r>
              <a:rPr sz="1100">
                <a:solidFill>
                  <a:srgbClr val="222E3B"/>
                </a:solidFill>
                <a:latin typeface="Calibri"/>
              </a:rPr>
              <a:t>daily link (e.g. 06:00) to both runbooks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4764024"/>
            <a:ext cx="420624" cy="420624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" y="4700016"/>
            <a:ext cx="513892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1200" b="1">
                <a:solidFill>
                  <a:srgbClr val="1B3A5B"/>
                </a:solidFill>
                <a:latin typeface="Calibri"/>
              </a:rPr>
              <a:t>Alerting  </a:t>
            </a:r>
            <a:r>
              <a:rPr sz="1100">
                <a:solidFill>
                  <a:srgbClr val="222E3B"/>
                </a:solidFill>
                <a:latin typeface="Calibri"/>
              </a:rPr>
              <a:t>Azure Monitor alert on Scheduled job run failures → email/Teams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45352" y="4764024"/>
            <a:ext cx="420624" cy="420624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75704" y="4700016"/>
            <a:ext cx="513892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1200" b="1">
                <a:solidFill>
                  <a:srgbClr val="1B3A5B"/>
                </a:solidFill>
                <a:latin typeface="Calibri"/>
              </a:rPr>
              <a:t>Intune  </a:t>
            </a:r>
            <a:r>
              <a:rPr sz="1100">
                <a:solidFill>
                  <a:srgbClr val="222E3B"/>
                </a:solidFill>
                <a:latin typeface="Calibri"/>
              </a:rPr>
              <a:t>create Remediation packages; assign each to its Intune-*Error-{code} groups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5943600"/>
            <a:ext cx="11365992" cy="457200"/>
          </a:xfrm>
          <a:prstGeom prst="roundRect">
            <a:avLst/>
          </a:prstGeom>
          <a:solidFill>
            <a:srgbClr val="DCEAF8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100" b="1">
                <a:solidFill>
                  <a:srgbClr val="1B3A5B"/>
                </a:solidFill>
                <a:latin typeface="Calibri"/>
              </a:rPr>
              <a:t>Missing DeviceManagementApps.Read.All breaks only the app runbook; missing DeviceManagementManagedDevices.Read.All breaks the patch runbook.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95097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Monitoring: Knowing It Works (and When It Doesn't)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27432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FE4F8"/>
                </a:solidFill>
                <a:latin typeface="Calibri"/>
              </a:rPr>
              <a:t>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55664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B6B7C"/>
                </a:solidFill>
                <a:latin typeface="Calibri"/>
              </a:rPr>
              <a:t>Intune Patch &amp; App Remediation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55664"/>
            <a:ext cx="640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B6B7C"/>
                </a:solidFill>
                <a:latin typeface="Calibri"/>
              </a:rP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188720"/>
            <a:ext cx="3657600" cy="2377440"/>
          </a:xfrm>
          <a:prstGeom prst="roundRect">
            <a:avLst/>
          </a:prstGeom>
          <a:solidFill>
            <a:srgbClr val="EEF3FA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78D4"/>
                </a:solidFill>
                <a:latin typeface="Calibri"/>
              </a:rPr>
              <a:t>Automation side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00">
                <a:solidFill>
                  <a:srgbClr val="222E3B"/>
                </a:solidFill>
                <a:latin typeface="Calibri"/>
              </a:rPr>
              <a:t>Any real failure or partial-sync failure → throw → job Failed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00">
                <a:solidFill>
                  <a:srgbClr val="222E3B"/>
                </a:solidFill>
                <a:latin typeface="Calibri"/>
              </a:rPr>
              <a:t>Azure Monitor: alert on runbook job failures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00">
                <a:solidFill>
                  <a:srgbClr val="222E3B"/>
                </a:solidFill>
                <a:latin typeface="Calibri"/>
              </a:rPr>
              <a:t>Benign skips (409/404) are counted, not thrown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00">
                <a:solidFill>
                  <a:srgbClr val="222E3B"/>
                </a:solidFill>
                <a:latin typeface="Calibri"/>
              </a:rPr>
              <a:t>Summary line is machine-parseable for dashboards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70248" y="1188720"/>
            <a:ext cx="3657600" cy="2377440"/>
          </a:xfrm>
          <a:prstGeom prst="roundRect">
            <a:avLst/>
          </a:prstGeom>
          <a:solidFill>
            <a:srgbClr val="EEF3FA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78D4"/>
                </a:solidFill>
                <a:latin typeface="Calibri"/>
              </a:rPr>
              <a:t>Device side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00">
                <a:solidFill>
                  <a:srgbClr val="222E3B"/>
                </a:solidFill>
                <a:latin typeface="Calibri"/>
              </a:rPr>
              <a:t>Remediation State|Detail lines appear per device in Intune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00">
                <a:solidFill>
                  <a:srgbClr val="222E3B"/>
                </a:solidFill>
                <a:latin typeface="Calibri"/>
              </a:rPr>
              <a:t>Failed exits build a live 'did not fix' list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00">
                <a:solidFill>
                  <a:srgbClr val="222E3B"/>
                </a:solidFill>
                <a:latin typeface="Calibri"/>
              </a:rPr>
              <a:t>%TEMP%\IntuneDetection.log / IntuneRemediation.log for support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00">
                <a:solidFill>
                  <a:srgbClr val="222E3B"/>
                </a:solidFill>
                <a:latin typeface="Calibri"/>
              </a:rPr>
              <a:t>Detection errors log and stay compliant (or exit 1 with -Strict)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29016" y="1188720"/>
            <a:ext cx="3657600" cy="2377440"/>
          </a:xfrm>
          <a:prstGeom prst="roundRect">
            <a:avLst/>
          </a:prstGeom>
          <a:solidFill>
            <a:srgbClr val="EEF3FA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78D4"/>
                </a:solidFill>
                <a:latin typeface="Calibri"/>
              </a:rPr>
              <a:t>Directory side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00">
                <a:solidFill>
                  <a:srgbClr val="222E3B"/>
                </a:solidFill>
                <a:latin typeface="Calibri"/>
              </a:rPr>
              <a:t>Group sizes = current failure counts per code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00">
                <a:solidFill>
                  <a:srgbClr val="222E3B"/>
                </a:solidFill>
                <a:latin typeface="Calibri"/>
              </a:rPr>
              <a:t>A sudden group-size spike = regression in the field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00">
                <a:solidFill>
                  <a:srgbClr val="222E3B"/>
                </a:solidFill>
                <a:latin typeface="Calibri"/>
              </a:rPr>
              <a:t>Marker guard means drift is detectable (warn on foreign groups)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00">
                <a:solidFill>
                  <a:srgbClr val="222E3B"/>
                </a:solidFill>
                <a:latin typeface="Calibri"/>
              </a:rPr>
              <a:t>DryRun diff = review before every change window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3840480"/>
            <a:ext cx="11365992" cy="1371600"/>
          </a:xfrm>
          <a:prstGeom prst="roundRect">
            <a:avLst/>
          </a:prstGeom>
          <a:solidFill>
            <a:srgbClr val="EEF3FA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C43E1C"/>
                </a:solidFill>
                <a:latin typeface="Calibri"/>
              </a:rPr>
              <a:t>Example alert flow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00">
                <a:solidFill>
                  <a:srgbClr val="222E3B"/>
                </a:solidFill>
                <a:latin typeface="Calibri"/>
              </a:rPr>
              <a:t>06:00 runbook starts → membership batch fails (throttled beyond retries) → throw after summary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00">
                <a:solidFill>
                  <a:srgbClr val="222E3B"/>
                </a:solidFill>
                <a:latin typeface="Calibri"/>
              </a:rPr>
              <a:t>Azure Automation job = Failed → alert rule fires → Teams/email shows job output with the warnings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00">
                <a:solidFill>
                  <a:srgbClr val="222E3B"/>
                </a:solidFill>
                <a:latin typeface="Calibri"/>
              </a:rPr>
              <a:t>Ops re-runs with DryRun, re-runs for real; devices were never in a half-synced state longer than one run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5440680"/>
            <a:ext cx="11365992" cy="548640"/>
          </a:xfrm>
          <a:prstGeom prst="roundRect">
            <a:avLst/>
          </a:prstGeom>
          <a:solidFill>
            <a:srgbClr val="DCEAF8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100" b="1">
                <a:solidFill>
                  <a:srgbClr val="1B3A5B"/>
                </a:solidFill>
                <a:latin typeface="Calibri"/>
              </a:rPr>
              <a:t>No silent failures: the system either reports success with counts or fails loudly.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95097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Rollout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27432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FE4F8"/>
                </a:solidFill>
                <a:latin typeface="Calibri"/>
              </a:rPr>
              <a:t>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55664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B6B7C"/>
                </a:solidFill>
                <a:latin typeface="Calibri"/>
              </a:rPr>
              <a:t>Intune Patch &amp; App Remediation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55664"/>
            <a:ext cx="640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B6B7C"/>
                </a:solidFill>
                <a:latin typeface="Calibri"/>
              </a:rPr>
              <a:t>19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188720"/>
          <a:ext cx="11365992" cy="3675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4572000"/>
                <a:gridCol w="5605272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Phase</a:t>
                      </a:r>
                    </a:p>
                  </a:txBody>
                  <a:tcPr marL="64008" marR="45720" marT="18288" marB="18288" anchor="ctr">
                    <a:solidFill>
                      <a:srgbClr val="0078D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Action</a:t>
                      </a:r>
                    </a:p>
                  </a:txBody>
                  <a:tcPr marL="64008" marR="45720" marT="18288" marB="18288" anchor="ctr">
                    <a:solidFill>
                      <a:srgbClr val="0078D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Pass criteria</a:t>
                      </a:r>
                    </a:p>
                  </a:txBody>
                  <a:tcPr marL="64008" marR="45720" marT="18288" marB="18288" anchor="ctr">
                    <a:solidFill>
                      <a:srgbClr val="0078D4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E3B"/>
                          </a:solidFill>
                          <a:latin typeface="Calibri"/>
                        </a:rPr>
                        <a:t>1 · Offline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E3B"/>
                          </a:solidFill>
                          <a:latin typeface="Calibri"/>
                        </a:rPr>
                        <a:t>powershell -File Tests\Run-Tests.ps1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E3B"/>
                          </a:solidFill>
                          <a:latin typeface="Calibri"/>
                        </a:rPr>
                        <a:t>40/40 pass; all files parse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E3B"/>
                          </a:solidFill>
                          <a:latin typeface="Calibri"/>
                        </a:rPr>
                        <a:t>2 · Dry run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E3B"/>
                          </a:solidFill>
                          <a:latin typeface="Calibri"/>
                        </a:rPr>
                        <a:t>-Local wrapper with -DryRun against prod tenant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E3B"/>
                          </a:solidFill>
                          <a:latin typeface="Calibri"/>
                        </a:rPr>
                        <a:t>Planned creates/adds/removes match expectations; zero invalid ids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E3B"/>
                          </a:solidFill>
                          <a:latin typeface="Calibri"/>
                        </a:rPr>
                        <a:t>3 · Pilot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E3B"/>
                          </a:solidFill>
                          <a:latin typeface="Calibri"/>
                        </a:rPr>
                        <a:t>One error code, one small group, one Remediation assignment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E3B"/>
                          </a:solidFill>
                          <a:latin typeface="Calibri"/>
                        </a:rPr>
                        <a:t>Detection fires on the right devices only; remediation Verified or honest Failed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E3B"/>
                          </a:solidFill>
                          <a:latin typeface="Calibri"/>
                        </a:rPr>
                        <a:t>4 · Full sync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E3B"/>
                          </a:solidFill>
                          <a:latin typeface="Calibri"/>
                        </a:rPr>
                        <a:t>Schedule both runbooks daily; enable all assignments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E3B"/>
                          </a:solidFill>
                          <a:latin typeface="Calibri"/>
                        </a:rPr>
                        <a:t>Two clean weeks of job runs; alerting armed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E3B"/>
                          </a:solidFill>
                          <a:latin typeface="Calibri"/>
                        </a:rPr>
                        <a:t>5 · Cleanup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E3B"/>
                          </a:solidFill>
                          <a:latin typeface="Calibri"/>
                        </a:rPr>
                        <a:t>Enable -CleanupOrphanedGroups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E3B"/>
                          </a:solidFill>
                          <a:latin typeface="Calibri"/>
                        </a:rPr>
                        <a:t>Only empty, marker-owned groups removed; assignments reviewed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11480" y="5120640"/>
            <a:ext cx="11365992" cy="914400"/>
          </a:xfrm>
          <a:prstGeom prst="roundRect">
            <a:avLst/>
          </a:prstGeom>
          <a:solidFill>
            <a:srgbClr val="FDF3E7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200" b="0">
                <a:solidFill>
                  <a:srgbClr val="8A5300"/>
                </a:solidFill>
                <a:latin typeface="Calibri"/>
              </a:rPr>
              <a:t>Licensing checkpoint before Phase 3: Remediations require Windows Enterprise E3/E5, Education A3/A5, or VDA per user - confirm before assignments go live.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95097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Requirements, Permissions &amp; Licensing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27432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FE4F8"/>
                </a:solidFill>
                <a:latin typeface="Calibri"/>
              </a:rPr>
              <a:t>Prerequisites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55664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B6B7C"/>
                </a:solidFill>
                <a:latin typeface="Calibri"/>
              </a:rPr>
              <a:t>Intune Patch &amp; App Remediation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55664"/>
            <a:ext cx="640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B6B7C"/>
                </a:solidFill>
                <a:latin typeface="Calibri"/>
              </a:rP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188720"/>
            <a:ext cx="3657600" cy="4023360"/>
          </a:xfrm>
          <a:prstGeom prst="roundRect">
            <a:avLst/>
          </a:prstGeom>
          <a:solidFill>
            <a:srgbClr val="EEF3FA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C43E1C"/>
                </a:solidFill>
                <a:latin typeface="Calibri"/>
              </a:rPr>
              <a:t>Licensing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00">
                <a:solidFill>
                  <a:srgbClr val="222E3B"/>
                </a:solidFill>
                <a:latin typeface="Calibri"/>
              </a:rPr>
              <a:t>Intune Remediations (formerly Proactive Remediations) require: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00">
                <a:solidFill>
                  <a:srgbClr val="222E3B"/>
                </a:solidFill>
                <a:latin typeface="Calibri"/>
              </a:rPr>
              <a:t>• Windows Enterprise E3/E5 (incl. M365 F3/E3/E5)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00">
                <a:solidFill>
                  <a:srgbClr val="222E3B"/>
                </a:solidFill>
                <a:latin typeface="Calibri"/>
              </a:rPr>
              <a:t>• Windows Education A3/A5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00">
                <a:solidFill>
                  <a:srgbClr val="222E3B"/>
                </a:solidFill>
                <a:latin typeface="Calibri"/>
              </a:rPr>
              <a:t>• Windows VDA per user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00">
                <a:solidFill>
                  <a:srgbClr val="222E3B"/>
                </a:solidFill>
                <a:latin typeface="Calibri"/>
              </a:rPr>
              <a:t>Devices: Entra joined/hybrid + MDM or co-managed, Win Pro/Ent/Edu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00">
                <a:solidFill>
                  <a:srgbClr val="222E3B"/>
                </a:solidFill>
                <a:latin typeface="Calibri"/>
              </a:rPr>
              <a:t>Admin confirms licensing once in the Intune admin center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70248" y="1188720"/>
            <a:ext cx="3657600" cy="4023360"/>
          </a:xfrm>
          <a:prstGeom prst="roundRect">
            <a:avLst/>
          </a:prstGeom>
          <a:solidFill>
            <a:srgbClr val="EEF3FA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78D4"/>
                </a:solidFill>
                <a:latin typeface="Calibri"/>
              </a:rPr>
              <a:t>Technical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00">
                <a:solidFill>
                  <a:srgbClr val="222E3B"/>
                </a:solidFill>
                <a:latin typeface="Calibri"/>
              </a:rPr>
              <a:t>PowerShell 5.1 (client + Azure Automation)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00">
                <a:solidFill>
                  <a:srgbClr val="222E3B"/>
                </a:solidFill>
                <a:latin typeface="Calibri"/>
              </a:rPr>
              <a:t>Module: Microsoft.Graph.Authentication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00">
                <a:solidFill>
                  <a:srgbClr val="222E3B"/>
                </a:solidFill>
                <a:latin typeface="Calibri"/>
              </a:rPr>
              <a:t>Managed identity for runbooks; delegated scopes locally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00">
                <a:solidFill>
                  <a:srgbClr val="222E3B"/>
                </a:solidFill>
                <a:latin typeface="Calibri"/>
              </a:rPr>
              <a:t>Endpoints: windowsUpdateStates + deviceStatuses are beta (documented, no SLA); groups + mobileApps on v1.0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00">
                <a:solidFill>
                  <a:srgbClr val="222E3B"/>
                </a:solidFill>
                <a:latin typeface="Calibri"/>
              </a:rPr>
              <a:t>Entra device objects used as group members (directoryObjects refs)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29016" y="1188720"/>
            <a:ext cx="3657600" cy="4023360"/>
          </a:xfrm>
          <a:prstGeom prst="roundRect">
            <a:avLst/>
          </a:prstGeom>
          <a:solidFill>
            <a:srgbClr val="EEF3FA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5A9E"/>
                </a:solidFill>
                <a:latin typeface="Calibri"/>
              </a:rPr>
              <a:t>Permissions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1" sz="1100">
                <a:solidFill>
                  <a:srgbClr val="222E3B"/>
                </a:solidFill>
                <a:latin typeface="Calibri"/>
              </a:rPr>
              <a:t>Runbook (managed identity): </a:t>
            </a:r>
            <a:r>
              <a:rPr b="0" sz="1100">
                <a:solidFill>
                  <a:srgbClr val="222E3B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00">
                <a:solidFill>
                  <a:srgbClr val="222E3B"/>
                </a:solidFill>
                <a:latin typeface="Calibri"/>
              </a:rPr>
              <a:t>• Directory.Read.All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00">
                <a:solidFill>
                  <a:srgbClr val="222E3B"/>
                </a:solidFill>
                <a:latin typeface="Calibri"/>
              </a:rPr>
              <a:t>• Group.ReadWrite.All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00">
                <a:solidFill>
                  <a:srgbClr val="222E3B"/>
                </a:solidFill>
                <a:latin typeface="Calibri"/>
              </a:rPr>
              <a:t>• DeviceManagementManagedDevices.Read.All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00">
                <a:solidFill>
                  <a:srgbClr val="222E3B"/>
                </a:solidFill>
                <a:latin typeface="Calibri"/>
              </a:rPr>
              <a:t>• DeviceManagementApps.Read.All (app runbook)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1" sz="1100">
                <a:solidFill>
                  <a:srgbClr val="222E3B"/>
                </a:solidFill>
                <a:latin typeface="Calibri"/>
              </a:rPr>
              <a:t>Local (-Interactive): </a:t>
            </a:r>
            <a:r>
              <a:rPr b="0" sz="1100">
                <a:solidFill>
                  <a:srgbClr val="222E3B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00">
                <a:solidFill>
                  <a:srgbClr val="222E3B"/>
                </a:solidFill>
                <a:latin typeface="Calibri"/>
              </a:rPr>
              <a:t>same scopes via delegated sign-in; modules auto-installed for CurrentUser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5486400"/>
            <a:ext cx="11365992" cy="548640"/>
          </a:xfrm>
          <a:prstGeom prst="roundRect">
            <a:avLst/>
          </a:prstGeom>
          <a:solidFill>
            <a:srgbClr val="DCEAF8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100" b="0">
                <a:solidFill>
                  <a:srgbClr val="1B3A5B"/>
                </a:solidFill>
                <a:latin typeface="Calibri"/>
              </a:rPr>
              <a:t>Beta endpoint note: if Microsoft moves windowsUpdateStates/deviceStatuses to v1.0, only the two URIs change - the sync engine is endpoint-agnostic.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95097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Summary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27432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FE4F8"/>
                </a:solidFill>
                <a:latin typeface="Calibri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55664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B6B7C"/>
                </a:solidFill>
                <a:latin typeface="Calibri"/>
              </a:rPr>
              <a:t>Intune Patch &amp; App Remediation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55664"/>
            <a:ext cx="640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B6B7C"/>
                </a:solidFill>
                <a:latin typeface="Calibri"/>
              </a:rPr>
              <a:t>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188720"/>
            <a:ext cx="5532120" cy="3566160"/>
          </a:xfrm>
          <a:prstGeom prst="roundRect">
            <a:avLst/>
          </a:prstGeom>
          <a:solidFill>
            <a:srgbClr val="EEF3FA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07C10"/>
                </a:solidFill>
                <a:latin typeface="Calibri"/>
              </a:rPr>
              <a:t>Delivered in this hardening pass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00">
                <a:solidFill>
                  <a:srgbClr val="222E3B"/>
                </a:solidFill>
                <a:latin typeface="Calibri"/>
              </a:rPr>
              <a:t>Correctness: full pagination, registry-value reboot detection, WUServer false-positive fix, diff-based membership sync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00">
                <a:solidFill>
                  <a:srgbClr val="222E3B"/>
                </a:solidFill>
                <a:latin typeface="Calibri"/>
              </a:rPr>
              <a:t>Reliability: 429/5xx backoff, $batch writes, per-group fault isolation, marker ownership guard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00">
                <a:solidFill>
                  <a:srgbClr val="222E3B"/>
                </a:solidFill>
                <a:latin typeface="Calibri"/>
              </a:rPr>
              <a:t>Safety: destructive defaults removed (ResetBase, /r, winsock, pending.xml, service kills, policy flips)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00">
                <a:solidFill>
                  <a:srgbClr val="222E3B"/>
                </a:solidFill>
                <a:latin typeface="Calibri"/>
              </a:rPr>
              <a:t>Honesty: Verified/Unknown/Failed outcomes with real exit codes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00">
                <a:solidFill>
                  <a:srgbClr val="222E3B"/>
                </a:solidFill>
                <a:latin typeface="Calibri"/>
              </a:rPr>
              <a:t>Quality: 40-test offline suite + live smoke runs; docs regenerated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00">
                <a:solidFill>
                  <a:srgbClr val="222E3B"/>
                </a:solidFill>
                <a:latin typeface="Calibri"/>
              </a:rPr>
              <a:t>Ops: -DryRun, alerting guidance, rollout phases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188720"/>
            <a:ext cx="5532120" cy="3566160"/>
          </a:xfrm>
          <a:prstGeom prst="roundRect">
            <a:avLst/>
          </a:prstGeom>
          <a:solidFill>
            <a:srgbClr val="EEF3FA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78D4"/>
                </a:solidFill>
                <a:latin typeface="Calibri"/>
              </a:rPr>
              <a:t>Ideas for the next iteration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00">
                <a:solidFill>
                  <a:srgbClr val="222E3B"/>
                </a:solidFill>
                <a:latin typeface="Calibri"/>
              </a:rPr>
              <a:t>Graph delta queries to shrink reads further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00">
                <a:solidFill>
                  <a:srgbClr val="222E3B"/>
                </a:solidFill>
                <a:latin typeface="Calibri"/>
              </a:rPr>
              <a:t>Automate Intune assignment creation per generated group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00">
                <a:solidFill>
                  <a:srgbClr val="222E3B"/>
                </a:solidFill>
                <a:latin typeface="Calibri"/>
              </a:rPr>
              <a:t>Azure Workbook dashboard: group sizes and remediation outcomes over time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00">
                <a:solidFill>
                  <a:srgbClr val="222E3B"/>
                </a:solidFill>
                <a:latin typeface="Calibri"/>
              </a:rPr>
              <a:t>Localized detection variants for DISM-heavy checks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00">
                <a:solidFill>
                  <a:srgbClr val="222E3B"/>
                </a:solidFill>
                <a:latin typeface="Calibri"/>
              </a:rPr>
              <a:t>Soft-delete awareness (recently deleted devices) in the sweep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00">
                <a:solidFill>
                  <a:srgbClr val="222E3B"/>
                </a:solidFill>
                <a:latin typeface="Calibri"/>
              </a:rPr>
              <a:t>Pester migration if the team standardises on 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5029200"/>
            <a:ext cx="11365992" cy="1005840"/>
          </a:xfrm>
          <a:prstGeom prst="roundRect">
            <a:avLst/>
          </a:prstGeom>
          <a:solidFill>
            <a:srgbClr val="1B3A5B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Questions?   ·   Repo: C:\Users\SAM\Documents\IntuneRemediations   ·   Tests: Tests\Run-Tests.ps1   ·   Setup: AZURE-AUTOMATION-SETUP.md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Intune Patch &amp; App Remediation Pipeline</dc:title>
  <dc:subject>Architecture, workflow, remediation matrices, safety and operations</dc:subject>
  <dc:creator>IntuneRemediations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