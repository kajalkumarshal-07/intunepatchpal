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275784" cy="2138781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A1 landscape poster companion to the 21-slide deck. Regenerate with python Tests\Build-Poster.py, then export PNG via PowerPoint (File &gt; Export, or Tests\Export-PosterPng.ps1).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275784" cy="2880360"/>
          </a:xfrm>
          <a:prstGeom prst="rect">
            <a:avLst/>
          </a:prstGeom>
          <a:solidFill>
            <a:srgbClr val="1B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30275784" cy="9144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02920"/>
            <a:ext cx="22402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0" b="1">
                <a:solidFill>
                  <a:srgbClr val="FFFFFF"/>
                </a:solidFill>
                <a:latin typeface="Calibri"/>
              </a:rPr>
              <a:t>IntunePatchPal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2240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0">
                <a:solidFill>
                  <a:srgbClr val="B9D6F2"/>
                </a:solidFill>
                <a:latin typeface="Calibri"/>
              </a:rPr>
              <a:t>your fleet's patch buddy — detects, groups, fixes, tidies 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588984" y="1737360"/>
            <a:ext cx="7772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2100" b="0">
                <a:solidFill>
                  <a:srgbClr val="9FC4E8"/>
                </a:solidFill>
                <a:latin typeface="Calibri"/>
              </a:rPr>
              <a:t>github.com/kajalkumarshal-07/IntunePatchPal</a:t>
            </a:r>
          </a:p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100" b="0">
                <a:solidFill>
                  <a:srgbClr val="9FC4E8"/>
                </a:solidFill>
                <a:latin typeface="Calibri"/>
              </a:rPr>
              <a:t>Technical deck (26 slides) + this poster  ·  October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37560"/>
            <a:ext cx="28446984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600" b="1">
                <a:solidFill>
                  <a:srgbClr val="005A9E"/>
                </a:solidFill>
                <a:latin typeface="Calibri"/>
              </a:rPr>
              <a:t>1  ·  The closed loop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977639"/>
            <a:ext cx="4846320" cy="2331720"/>
          </a:xfrm>
          <a:prstGeom prst="roundRect">
            <a:avLst/>
          </a:prstGeom>
          <a:solidFill>
            <a:srgbClr val="EEF3FA"/>
          </a:solidFill>
          <a:ln w="1587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rIns="292608" tIns="237744" bIns="201168"/>
          <a:lstStyle/>
          <a:p>
            <a:pPr algn="ctr">
              <a:lnSpc>
                <a:spcPct val="100000"/>
              </a:lnSpc>
              <a:spcAft>
                <a:spcPts val="1200"/>
              </a:spcAft>
            </a:pPr>
            <a:r>
              <a:rPr sz="2600" b="1">
                <a:solidFill>
                  <a:srgbClr val="005A9E"/>
                </a:solidFill>
                <a:latin typeface="Calibri"/>
              </a:rPr>
              <a:t>Azure Automation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2100" b="0">
                <a:solidFill>
                  <a:srgbClr val="222E3B"/>
                </a:solidFill>
                <a:latin typeface="Calibri"/>
              </a:rPr>
              <a:t/>
            </a:r>
            <a:r>
              <a:rPr sz="2100">
                <a:solidFill>
                  <a:srgbClr val="222E3B"/>
                </a:solidFill>
                <a:latin typeface="Calibri"/>
              </a:rPr>
              <a:t>PowerShell runbook, daily schedule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2100" b="0">
                <a:solidFill>
                  <a:srgbClr val="222E3B"/>
                </a:solidFill>
                <a:latin typeface="Calibri"/>
              </a:rPr>
              <a:t/>
            </a:r>
            <a:r>
              <a:rPr sz="2100">
                <a:solidFill>
                  <a:srgbClr val="222E3B"/>
                </a:solidFill>
                <a:latin typeface="Calibri"/>
              </a:rPr>
              <a:t>Managed identity – no secrets stored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870448" y="4860036"/>
            <a:ext cx="834389" cy="566928"/>
          </a:xfrm>
          <a:prstGeom prst="rightArrow">
            <a:avLst/>
          </a:prstGeom>
          <a:solidFill>
            <a:srgbClr val="8FA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14566" y="3977639"/>
            <a:ext cx="4846320" cy="2331720"/>
          </a:xfrm>
          <a:prstGeom prst="roundRect">
            <a:avLst/>
          </a:prstGeom>
          <a:solidFill>
            <a:srgbClr val="EEF3FA"/>
          </a:solidFill>
          <a:ln w="1587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rIns="292608" tIns="237744" bIns="201168"/>
          <a:lstStyle/>
          <a:p>
            <a:pPr algn="ctr">
              <a:lnSpc>
                <a:spcPct val="100000"/>
              </a:lnSpc>
              <a:spcAft>
                <a:spcPts val="1200"/>
              </a:spcAft>
            </a:pPr>
            <a:r>
              <a:rPr sz="2600" b="1">
                <a:solidFill>
                  <a:srgbClr val="005A9E"/>
                </a:solidFill>
                <a:latin typeface="Calibri"/>
              </a:rPr>
              <a:t>Microsoft Graph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2100" b="0">
                <a:solidFill>
                  <a:srgbClr val="222E3B"/>
                </a:solidFill>
                <a:latin typeface="Calibri"/>
              </a:rPr>
              <a:t/>
            </a:r>
            <a:r>
              <a:rPr sz="2100">
                <a:solidFill>
                  <a:srgbClr val="222E3B"/>
                </a:solidFill>
                <a:latin typeface="Calibri"/>
              </a:rPr>
              <a:t>read failure states (paged, retried)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2100" b="0">
                <a:solidFill>
                  <a:srgbClr val="222E3B"/>
                </a:solidFill>
                <a:latin typeface="Calibri"/>
              </a:rPr>
              <a:t/>
            </a:r>
            <a:r>
              <a:rPr sz="2100">
                <a:solidFill>
                  <a:srgbClr val="222E3B"/>
                </a:solidFill>
                <a:latin typeface="Calibri"/>
              </a:rPr>
              <a:t>create/update groups + members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11770613" y="4860036"/>
            <a:ext cx="834389" cy="566928"/>
          </a:xfrm>
          <a:prstGeom prst="rightArrow">
            <a:avLst/>
          </a:prstGeom>
          <a:solidFill>
            <a:srgbClr val="8FA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2714732" y="3977639"/>
            <a:ext cx="4846320" cy="2331720"/>
          </a:xfrm>
          <a:prstGeom prst="roundRect">
            <a:avLst/>
          </a:prstGeom>
          <a:solidFill>
            <a:srgbClr val="EEF3FA"/>
          </a:solidFill>
          <a:ln w="1587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rIns="292608" tIns="237744" bIns="201168"/>
          <a:lstStyle/>
          <a:p>
            <a:pPr algn="ctr">
              <a:lnSpc>
                <a:spcPct val="100000"/>
              </a:lnSpc>
              <a:spcAft>
                <a:spcPts val="1200"/>
              </a:spcAft>
            </a:pPr>
            <a:r>
              <a:rPr sz="2600" b="1">
                <a:solidFill>
                  <a:srgbClr val="005A9E"/>
                </a:solidFill>
                <a:latin typeface="Calibri"/>
              </a:rPr>
              <a:t>Entra error-code groups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2100" b="0">
                <a:solidFill>
                  <a:srgbClr val="222E3B"/>
                </a:solidFill>
                <a:latin typeface="Calibri"/>
              </a:rPr>
              <a:t/>
            </a:r>
            <a:r>
              <a:rPr sz="2100">
                <a:solidFill>
                  <a:srgbClr val="222E3B"/>
                </a:solidFill>
                <a:latin typeface="Calibri"/>
              </a:rPr>
              <a:t>Intune-PatchError-{code}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2100" b="0">
                <a:solidFill>
                  <a:srgbClr val="222E3B"/>
                </a:solidFill>
                <a:latin typeface="Calibri"/>
              </a:rPr>
              <a:t/>
            </a:r>
            <a:r>
              <a:rPr sz="2100">
                <a:solidFill>
                  <a:srgbClr val="222E3B"/>
                </a:solidFill>
                <a:latin typeface="Calibri"/>
              </a:rPr>
              <a:t>Intune-AppError-{code}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17670780" y="4860036"/>
            <a:ext cx="834389" cy="566928"/>
          </a:xfrm>
          <a:prstGeom prst="rightArrow">
            <a:avLst/>
          </a:prstGeom>
          <a:solidFill>
            <a:srgbClr val="8FA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8614898" y="3977639"/>
            <a:ext cx="4846320" cy="2331720"/>
          </a:xfrm>
          <a:prstGeom prst="roundRect">
            <a:avLst/>
          </a:prstGeom>
          <a:solidFill>
            <a:srgbClr val="EEF3FA"/>
          </a:solidFill>
          <a:ln w="1587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rIns="292608" tIns="237744" bIns="201168"/>
          <a:lstStyle/>
          <a:p>
            <a:pPr algn="ctr">
              <a:lnSpc>
                <a:spcPct val="100000"/>
              </a:lnSpc>
              <a:spcAft>
                <a:spcPts val="1200"/>
              </a:spcAft>
            </a:pPr>
            <a:r>
              <a:rPr sz="2600" b="1">
                <a:solidFill>
                  <a:srgbClr val="107C10"/>
                </a:solidFill>
                <a:latin typeface="Calibri"/>
              </a:rPr>
              <a:t>Intune Remediations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2100" b="0">
                <a:solidFill>
                  <a:srgbClr val="222E3B"/>
                </a:solidFill>
                <a:latin typeface="Calibri"/>
              </a:rPr>
              <a:t/>
            </a:r>
            <a:r>
              <a:rPr sz="2100">
                <a:solidFill>
                  <a:srgbClr val="222E3B"/>
                </a:solidFill>
                <a:latin typeface="Calibri"/>
              </a:rPr>
              <a:t>one assignment per group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2100" b="0">
                <a:solidFill>
                  <a:srgbClr val="222E3B"/>
                </a:solidFill>
                <a:latin typeface="Calibri"/>
              </a:rPr>
              <a:t/>
            </a:r>
            <a:r>
              <a:rPr sz="2100">
                <a:solidFill>
                  <a:srgbClr val="222E3B"/>
                </a:solidFill>
                <a:latin typeface="Calibri"/>
              </a:rPr>
              <a:t>detection exit 0/1 → fix runs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3570946" y="4860036"/>
            <a:ext cx="834389" cy="566928"/>
          </a:xfrm>
          <a:prstGeom prst="rightArrow">
            <a:avLst/>
          </a:prstGeom>
          <a:solidFill>
            <a:srgbClr val="8FA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4515064" y="3977639"/>
            <a:ext cx="4846320" cy="2331720"/>
          </a:xfrm>
          <a:prstGeom prst="roundRect">
            <a:avLst/>
          </a:prstGeom>
          <a:solidFill>
            <a:srgbClr val="EEF3FA"/>
          </a:solidFill>
          <a:ln w="1587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rIns="292608" tIns="237744" bIns="201168"/>
          <a:lstStyle/>
          <a:p>
            <a:pPr algn="ctr">
              <a:lnSpc>
                <a:spcPct val="100000"/>
              </a:lnSpc>
              <a:spcAft>
                <a:spcPts val="1200"/>
              </a:spcAft>
            </a:pPr>
            <a:r>
              <a:rPr sz="2600" b="1">
                <a:solidFill>
                  <a:srgbClr val="005A9E"/>
                </a:solidFill>
                <a:latin typeface="Calibri"/>
              </a:rPr>
              <a:t>Windows devices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2100" b="0">
                <a:solidFill>
                  <a:srgbClr val="222E3B"/>
                </a:solidFill>
                <a:latin typeface="Calibri"/>
              </a:rPr>
              <a:t/>
            </a:r>
            <a:r>
              <a:rPr sz="2100">
                <a:solidFill>
                  <a:srgbClr val="222E3B"/>
                </a:solidFill>
                <a:latin typeface="Calibri"/>
              </a:rPr>
              <a:t>fix runs as SYSTEM via IME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2100" b="0">
                <a:solidFill>
                  <a:srgbClr val="222E3B"/>
                </a:solidFill>
                <a:latin typeface="Calibri"/>
              </a:rPr>
              <a:t/>
            </a:r>
            <a:r>
              <a:rPr sz="2100">
                <a:solidFill>
                  <a:srgbClr val="222E3B"/>
                </a:solidFill>
                <a:latin typeface="Calibri"/>
              </a:rPr>
              <a:t>State|Detail lands in the report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26645615" y="6373368"/>
            <a:ext cx="585216" cy="457200"/>
          </a:xfrm>
          <a:prstGeom prst="downArrow">
            <a:avLst/>
          </a:prstGeom>
          <a:solidFill>
            <a:srgbClr val="8FA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14400" y="6876288"/>
            <a:ext cx="28446984" cy="868680"/>
          </a:xfrm>
          <a:prstGeom prst="roundRect">
            <a:avLst/>
          </a:prstGeom>
          <a:solidFill>
            <a:srgbClr val="EEF3FA"/>
          </a:solidFill>
          <a:ln w="1587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500" b="1">
                <a:solidFill>
                  <a:srgbClr val="1B3A5B"/>
                </a:solidFill>
                <a:latin typeface="Calibri"/>
              </a:rPr>
              <a:t>↺  Closed loop: remediated devices change state → Graph reflects it → the next daily run empties the group → the assignment stops applying</a:t>
            </a:r>
          </a:p>
        </p:txBody>
      </p:sp>
      <p:sp>
        <p:nvSpPr>
          <p:cNvPr id="19" name="Up Arrow 18"/>
          <p:cNvSpPr/>
          <p:nvPr/>
        </p:nvSpPr>
        <p:spPr>
          <a:xfrm>
            <a:off x="3044952" y="7790688"/>
            <a:ext cx="585216" cy="457200"/>
          </a:xfrm>
          <a:prstGeom prst="upArrow">
            <a:avLst/>
          </a:prstGeom>
          <a:solidFill>
            <a:srgbClr val="8FA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8458200"/>
            <a:ext cx="28446984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600" b="1">
                <a:solidFill>
                  <a:srgbClr val="005A9E"/>
                </a:solidFill>
                <a:latin typeface="Calibri"/>
              </a:rPr>
              <a:t>2  ·  How it works – sync, safety, contract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9189720"/>
            <a:ext cx="9055608" cy="7132320"/>
          </a:xfrm>
          <a:prstGeom prst="roundRect">
            <a:avLst/>
          </a:prstGeom>
          <a:solidFill>
            <a:srgbClr val="EEF3FA"/>
          </a:solidFill>
          <a:ln w="1587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rIns="292608" tIns="237744" bIns="201168"/>
          <a:lstStyle/>
          <a:p>
            <a:pPr algn="ctr">
              <a:lnSpc>
                <a:spcPct val="100000"/>
              </a:lnSpc>
              <a:spcAft>
                <a:spcPts val="1200"/>
              </a:spcAft>
            </a:pPr>
            <a:r>
              <a:rPr sz="2800" b="1">
                <a:solidFill>
                  <a:srgbClr val="005A9E"/>
                </a:solidFill>
                <a:latin typeface="Calibri"/>
              </a:rPr>
              <a:t>Daily group sync – 9 steps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2100" b="0">
                <a:solidFill>
                  <a:srgbClr val="222E3B"/>
                </a:solidFill>
                <a:latin typeface="Calibri"/>
              </a:rPr>
              <a:t/>
            </a:r>
            <a:r>
              <a:rPr b="1" sz="2100">
                <a:solidFill>
                  <a:srgbClr val="222E3B"/>
                </a:solidFill>
                <a:latin typeface="Calibri"/>
              </a:rPr>
              <a:t>1  </a:t>
            </a:r>
            <a:r>
              <a:rPr sz="2100">
                <a:solidFill>
                  <a:srgbClr val="222E3B"/>
                </a:solidFill>
                <a:latin typeface="Calibri"/>
              </a:rPr>
              <a:t>auth – managed identity, or -Interactive locally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2100" b="0">
                <a:solidFill>
                  <a:srgbClr val="222E3B"/>
                </a:solidFill>
                <a:latin typeface="Calibri"/>
              </a:rPr>
              <a:t/>
            </a:r>
            <a:r>
              <a:rPr b="1" sz="2100">
                <a:solidFill>
                  <a:srgbClr val="222E3B"/>
                </a:solidFill>
                <a:latin typeface="Calibri"/>
              </a:rPr>
              <a:t>2  </a:t>
            </a:r>
            <a:r>
              <a:rPr sz="2100">
                <a:solidFill>
                  <a:srgbClr val="222E3B"/>
                </a:solidFill>
                <a:latin typeface="Calibri"/>
              </a:rPr>
              <a:t>read update alert + app install status reports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2100" b="0">
                <a:solidFill>
                  <a:srgbClr val="222E3B"/>
                </a:solidFill>
                <a:latin typeface="Calibri"/>
              </a:rPr>
              <a:t/>
            </a:r>
            <a:r>
              <a:rPr b="1" sz="2100">
                <a:solidFill>
                  <a:srgbClr val="222E3B"/>
                </a:solidFill>
                <a:latin typeface="Calibri"/>
              </a:rPr>
              <a:t>3  </a:t>
            </a:r>
            <a:r>
              <a:rPr sz="2100">
                <a:solidFill>
                  <a:srgbClr val="222E3B"/>
                </a:solidFill>
                <a:latin typeface="Calibri"/>
              </a:rPr>
              <a:t>bucket failed rows by code (AlertMessage/errorCode)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2100" b="0">
                <a:solidFill>
                  <a:srgbClr val="222E3B"/>
                </a:solidFill>
                <a:latin typeface="Calibri"/>
              </a:rPr>
              <a:t/>
            </a:r>
            <a:r>
              <a:rPr b="1" sz="2100">
                <a:solidFill>
                  <a:srgbClr val="222E3B"/>
                </a:solidFill>
                <a:latin typeface="Calibri"/>
              </a:rPr>
              <a:t>4  </a:t>
            </a:r>
            <a:r>
              <a:rPr sz="2100">
                <a:solidFill>
                  <a:srgbClr val="222E3B"/>
                </a:solidFill>
                <a:latin typeface="Calibri"/>
              </a:rPr>
              <a:t>find or create Intune-PatchError-{code} groups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2100" b="0">
                <a:solidFill>
                  <a:srgbClr val="222E3B"/>
                </a:solidFill>
                <a:latin typeface="Calibri"/>
              </a:rPr>
              <a:t/>
            </a:r>
            <a:r>
              <a:rPr b="1" sz="2100">
                <a:solidFill>
                  <a:srgbClr val="222E3B"/>
                </a:solidFill>
                <a:latin typeface="Calibri"/>
              </a:rPr>
              <a:t>5  </a:t>
            </a:r>
            <a:r>
              <a:rPr sz="2100">
                <a:solidFill>
                  <a:srgbClr val="222E3B"/>
                </a:solidFill>
                <a:latin typeface="Calibri"/>
              </a:rPr>
              <a:t>guard: groups without the automation marker are skipped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2100" b="0">
                <a:solidFill>
                  <a:srgbClr val="222E3B"/>
                </a:solidFill>
                <a:latin typeface="Calibri"/>
              </a:rPr>
              <a:t/>
            </a:r>
            <a:r>
              <a:rPr b="1" sz="2100">
                <a:solidFill>
                  <a:srgbClr val="222E3B"/>
                </a:solidFill>
                <a:latin typeface="Calibri"/>
              </a:rPr>
              <a:t>6  </a:t>
            </a:r>
            <a:r>
              <a:rPr sz="2100">
                <a:solidFill>
                  <a:srgbClr val="222E3B"/>
                </a:solidFill>
                <a:latin typeface="Calibri"/>
              </a:rPr>
              <a:t>diff members → toAdd / toRemove sets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2100" b="0">
                <a:solidFill>
                  <a:srgbClr val="222E3B"/>
                </a:solidFill>
                <a:latin typeface="Calibri"/>
              </a:rPr>
              <a:t/>
            </a:r>
            <a:r>
              <a:rPr b="1" sz="2100">
                <a:solidFill>
                  <a:srgbClr val="222E3B"/>
                </a:solidFill>
                <a:latin typeface="Calibri"/>
              </a:rPr>
              <a:t>7  </a:t>
            </a:r>
            <a:r>
              <a:rPr sz="2100">
                <a:solidFill>
                  <a:srgbClr val="222E3B"/>
                </a:solidFill>
                <a:latin typeface="Calibri"/>
              </a:rPr>
              <a:t>write in $batch – 20 membership ops per call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2100" b="0">
                <a:solidFill>
                  <a:srgbClr val="222E3B"/>
                </a:solidFill>
                <a:latin typeface="Calibri"/>
              </a:rPr>
              <a:t/>
            </a:r>
            <a:r>
              <a:rPr b="1" sz="2100">
                <a:solidFill>
                  <a:srgbClr val="222E3B"/>
                </a:solidFill>
                <a:latin typeface="Calibri"/>
              </a:rPr>
              <a:t>8  </a:t>
            </a:r>
            <a:r>
              <a:rPr sz="2100">
                <a:solidFill>
                  <a:srgbClr val="222E3B"/>
                </a:solidFill>
                <a:latin typeface="Calibri"/>
              </a:rPr>
              <a:t>sweep codes with zero failures – empty (delete only with -Cleanup)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2100" b="0">
                <a:solidFill>
                  <a:srgbClr val="222E3B"/>
                </a:solidFill>
                <a:latin typeface="Calibri"/>
              </a:rPr>
              <a:t/>
            </a:r>
            <a:r>
              <a:rPr b="1" sz="2100">
                <a:solidFill>
                  <a:srgbClr val="222E3B"/>
                </a:solidFill>
                <a:latin typeface="Calibri"/>
              </a:rPr>
              <a:t>9  </a:t>
            </a:r>
            <a:r>
              <a:rPr sz="2100">
                <a:solidFill>
                  <a:srgbClr val="222E3B"/>
                </a:solidFill>
                <a:latin typeface="Calibri"/>
              </a:rPr>
              <a:t>report every count → any real failure throws → alert fires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610088" y="9189720"/>
            <a:ext cx="9055608" cy="7132320"/>
          </a:xfrm>
          <a:prstGeom prst="roundRect">
            <a:avLst/>
          </a:prstGeom>
          <a:solidFill>
            <a:srgbClr val="FBEFE8"/>
          </a:solidFill>
          <a:ln w="1587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rIns="292608" tIns="237744" bIns="201168"/>
          <a:lstStyle/>
          <a:p>
            <a:pPr algn="ctr">
              <a:lnSpc>
                <a:spcPct val="100000"/>
              </a:lnSpc>
              <a:spcAft>
                <a:spcPts val="1200"/>
              </a:spcAft>
            </a:pPr>
            <a:r>
              <a:rPr sz="2800" b="1">
                <a:solidFill>
                  <a:srgbClr val="C43E1C"/>
                </a:solidFill>
                <a:latin typeface="Calibri"/>
              </a:rPr>
              <a:t>Safety: risky default → this repo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2100" b="0">
                <a:solidFill>
                  <a:srgbClr val="222E3B"/>
                </a:solidFill>
                <a:latin typeface="Calibri"/>
              </a:rPr>
              <a:t/>
            </a:r>
            <a:r>
              <a:rPr b="1" sz="2100">
                <a:solidFill>
                  <a:srgbClr val="222E3B"/>
                </a:solidFill>
                <a:latin typeface="Calibri"/>
              </a:rPr>
              <a:t>DISM /ResetBase </a:t>
            </a:r>
            <a:r>
              <a:rPr sz="2100">
                <a:solidFill>
                  <a:srgbClr val="222E3B"/>
                </a:solidFill>
                <a:latin typeface="Calibri"/>
              </a:rPr>
              <a:t>→ StartComponentCleanup only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2100" b="0">
                <a:solidFill>
                  <a:srgbClr val="222E3B"/>
                </a:solidFill>
                <a:latin typeface="Calibri"/>
              </a:rPr>
              <a:t/>
            </a:r>
            <a:r>
              <a:rPr b="1" sz="2100">
                <a:solidFill>
                  <a:srgbClr val="222E3B"/>
                </a:solidFill>
                <a:latin typeface="Calibri"/>
              </a:rPr>
              <a:t>chkdsk /r scheduled </a:t>
            </a:r>
            <a:r>
              <a:rPr sz="2100">
                <a:solidFill>
                  <a:srgbClr val="222E3B"/>
                </a:solidFill>
                <a:latin typeface="Calibri"/>
              </a:rPr>
              <a:t>→ read-only scan, /f behind -AllowChkdsk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2100" b="0">
                <a:solidFill>
                  <a:srgbClr val="222E3B"/>
                </a:solidFill>
                <a:latin typeface="Calibri"/>
              </a:rPr>
              <a:t/>
            </a:r>
            <a:r>
              <a:rPr b="1" sz="2100">
                <a:solidFill>
                  <a:srgbClr val="222E3B"/>
                </a:solidFill>
                <a:latin typeface="Calibri"/>
              </a:rPr>
              <a:t>kill every service / msiexec </a:t>
            </a:r>
            <a:r>
              <a:rPr sz="2100">
                <a:solidFill>
                  <a:srgbClr val="222E3B"/>
                </a:solidFill>
                <a:latin typeface="Calibri"/>
              </a:rPr>
              <a:t>→ age-gated (&gt;30 min), top-5 report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2100" b="0">
                <a:solidFill>
                  <a:srgbClr val="222E3B"/>
                </a:solidFill>
                <a:latin typeface="Calibri"/>
              </a:rPr>
              <a:t/>
            </a:r>
            <a:r>
              <a:rPr b="1" sz="2100">
                <a:solidFill>
                  <a:srgbClr val="222E3B"/>
                </a:solidFill>
                <a:latin typeface="Calibri"/>
              </a:rPr>
              <a:t>netsh winsock reset </a:t>
            </a:r>
            <a:r>
              <a:rPr sz="2100">
                <a:solidFill>
                  <a:srgbClr val="222E3B"/>
                </a:solidFill>
                <a:latin typeface="Calibri"/>
              </a:rPr>
              <a:t>→ DNS cache + guidance only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2100" b="0">
                <a:solidFill>
                  <a:srgbClr val="222E3B"/>
                </a:solidFill>
                <a:latin typeface="Calibri"/>
              </a:rPr>
              <a:t/>
            </a:r>
            <a:r>
              <a:rPr b="1" sz="2100">
                <a:solidFill>
                  <a:srgbClr val="222E3B"/>
                </a:solidFill>
                <a:latin typeface="Calibri"/>
              </a:rPr>
              <a:t>delete WinSxS\pending.xml </a:t>
            </a:r>
            <a:r>
              <a:rPr sz="2100">
                <a:solidFill>
                  <a:srgbClr val="222E3B"/>
                </a:solidFill>
                <a:latin typeface="Calibri"/>
              </a:rPr>
              <a:t>→ never touched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2100" b="0">
                <a:solidFill>
                  <a:srgbClr val="222E3B"/>
                </a:solidFill>
                <a:latin typeface="Calibri"/>
              </a:rPr>
              <a:t/>
            </a:r>
            <a:r>
              <a:rPr b="1" sz="2100">
                <a:solidFill>
                  <a:srgbClr val="222E3B"/>
                </a:solidFill>
                <a:latin typeface="Calibri"/>
              </a:rPr>
              <a:t>always exit 0 </a:t>
            </a:r>
            <a:r>
              <a:rPr sz="2100">
                <a:solidFill>
                  <a:srgbClr val="222E3B"/>
                </a:solidFill>
                <a:latin typeface="Calibri"/>
              </a:rPr>
              <a:t>→ Verified / Unknown → 0, Failed → 1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2100" b="0">
                <a:solidFill>
                  <a:srgbClr val="222E3B"/>
                </a:solidFill>
                <a:latin typeface="Calibri"/>
              </a:rPr>
              <a:t/>
            </a:r>
            <a:r>
              <a:rPr b="1" sz="2100">
                <a:solidFill>
                  <a:srgbClr val="222E3B"/>
                </a:solidFill>
                <a:latin typeface="Calibri"/>
              </a:rPr>
              <a:t>-DryRun </a:t>
            </a:r>
            <a:r>
              <a:rPr sz="2100">
                <a:solidFill>
                  <a:srgbClr val="222E3B"/>
                </a:solidFill>
                <a:latin typeface="Calibri"/>
              </a:rPr>
              <a:t>previews every create/add/remove before it happens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2100" b="0">
                <a:solidFill>
                  <a:srgbClr val="222E3B"/>
                </a:solidFill>
                <a:latin typeface="Calibri"/>
              </a:rPr>
              <a:t/>
            </a:r>
            <a:r>
              <a:rPr b="1" sz="2100">
                <a:solidFill>
                  <a:srgbClr val="222E3B"/>
                </a:solidFill>
                <a:latin typeface="Calibri"/>
              </a:rPr>
              <a:t>ownership marker </a:t>
            </a:r>
            <a:r>
              <a:rPr sz="2100">
                <a:solidFill>
                  <a:srgbClr val="222E3B"/>
                </a:solidFill>
                <a:latin typeface="Calibri"/>
              </a:rPr>
              <a:t>protects groups made by humans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0305776" y="9189720"/>
            <a:ext cx="9055608" cy="7132320"/>
          </a:xfrm>
          <a:prstGeom prst="roundRect">
            <a:avLst/>
          </a:prstGeom>
          <a:solidFill>
            <a:srgbClr val="E7F3E7"/>
          </a:solidFill>
          <a:ln w="1587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rIns="292608" tIns="237744" bIns="201168"/>
          <a:lstStyle/>
          <a:p>
            <a:pPr algn="ctr">
              <a:lnSpc>
                <a:spcPct val="100000"/>
              </a:lnSpc>
              <a:spcAft>
                <a:spcPts val="1200"/>
              </a:spcAft>
            </a:pPr>
            <a:r>
              <a:rPr sz="2800" b="1">
                <a:solidFill>
                  <a:srgbClr val="107C10"/>
                </a:solidFill>
                <a:latin typeface="Calibri"/>
              </a:rPr>
              <a:t>Contract &amp; coverage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2100" b="0">
                <a:solidFill>
                  <a:srgbClr val="222E3B"/>
                </a:solidFill>
                <a:latin typeface="Calibri"/>
              </a:rPr>
              <a:t/>
            </a:r>
            <a:r>
              <a:rPr b="1" sz="2100">
                <a:solidFill>
                  <a:srgbClr val="222E3B"/>
                </a:solidFill>
                <a:latin typeface="Calibri"/>
              </a:rPr>
              <a:t>detection exit 0 </a:t>
            </a:r>
            <a:r>
              <a:rPr sz="2100">
                <a:solidFill>
                  <a:srgbClr val="222E3B"/>
                </a:solidFill>
                <a:latin typeface="Calibri"/>
              </a:rPr>
              <a:t>= compliant, exit 1 = run the fix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2100" b="0">
                <a:solidFill>
                  <a:srgbClr val="222E3B"/>
                </a:solidFill>
                <a:latin typeface="Calibri"/>
              </a:rPr>
              <a:t/>
            </a:r>
            <a:r>
              <a:rPr b="1" sz="2100">
                <a:solidFill>
                  <a:srgbClr val="222E3B"/>
                </a:solidFill>
                <a:latin typeface="Calibri"/>
              </a:rPr>
              <a:t>remediation exit 0 </a:t>
            </a:r>
            <a:r>
              <a:rPr sz="2100">
                <a:solidFill>
                  <a:srgbClr val="222E3B"/>
                </a:solidFill>
                <a:latin typeface="Calibri"/>
              </a:rPr>
              <a:t>= Verified / Unknown, exit 1 = Failed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2100" b="0">
                <a:solidFill>
                  <a:srgbClr val="222E3B"/>
                </a:solidFill>
                <a:latin typeface="Calibri"/>
              </a:rPr>
              <a:t/>
            </a:r>
            <a:r>
              <a:rPr b="1" sz="2100">
                <a:solidFill>
                  <a:srgbClr val="222E3B"/>
                </a:solidFill>
                <a:latin typeface="Calibri"/>
              </a:rPr>
              <a:t>report line </a:t>
            </a:r>
            <a:r>
              <a:rPr sz="2100">
                <a:solidFill>
                  <a:srgbClr val="222E3B"/>
                </a:solidFill>
                <a:latin typeface="Calibri"/>
              </a:rPr>
              <a:t>= State|Detail per device in Intune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2100" b="0">
                <a:solidFill>
                  <a:srgbClr val="222E3B"/>
                </a:solidFill>
                <a:latin typeface="Calibri"/>
              </a:rPr>
              <a:t/>
            </a:r>
            <a:r>
              <a:rPr b="1" sz="2100">
                <a:solidFill>
                  <a:srgbClr val="222E3B"/>
                </a:solidFill>
                <a:latin typeface="Calibri"/>
              </a:rPr>
              <a:t>20+ patch codes </a:t>
            </a:r>
            <a:r>
              <a:rPr sz="2100">
                <a:solidFill>
                  <a:srgbClr val="222E3B"/>
                </a:solidFill>
                <a:latin typeface="Calibri"/>
              </a:rPr>
              <a:t>+ 35+ app codes (MSI 1601–1642, 0x87D0…)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2100" b="0">
                <a:solidFill>
                  <a:srgbClr val="222E3B"/>
                </a:solidFill>
                <a:latin typeface="Calibri"/>
              </a:rPr>
              <a:t/>
            </a:r>
            <a:r>
              <a:rPr b="1" sz="2100">
                <a:solidFill>
                  <a:srgbClr val="222E3B"/>
                </a:solidFill>
                <a:latin typeface="Calibri"/>
              </a:rPr>
              <a:t>unknown code </a:t>
            </a:r>
            <a:r>
              <a:rPr sz="2100">
                <a:solidFill>
                  <a:srgbClr val="222E3B"/>
                </a:solidFill>
                <a:latin typeface="Calibri"/>
              </a:rPr>
              <a:t>= compliant – never loops on what we can't verify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2100" b="0">
                <a:solidFill>
                  <a:srgbClr val="222E3B"/>
                </a:solidFill>
                <a:latin typeface="Calibri"/>
              </a:rPr>
              <a:t/>
            </a:r>
            <a:r>
              <a:rPr b="1" sz="2100">
                <a:solidFill>
                  <a:srgbClr val="222E3B"/>
                </a:solidFill>
                <a:latin typeface="Calibri"/>
              </a:rPr>
              <a:t>logs </a:t>
            </a:r>
            <a:r>
              <a:rPr sz="2100">
                <a:solidFill>
                  <a:srgbClr val="222E3B"/>
                </a:solidFill>
                <a:latin typeface="Calibri"/>
              </a:rPr>
              <a:t>= %TEMP%\IntuneDetection.log / IntuneRemediation.log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2100" b="0">
                <a:solidFill>
                  <a:srgbClr val="222E3B"/>
                </a:solidFill>
                <a:latin typeface="Calibri"/>
              </a:rPr>
              <a:t/>
            </a:r>
            <a:r>
              <a:rPr b="1" sz="2100">
                <a:solidFill>
                  <a:srgbClr val="222E3B"/>
                </a:solidFill>
                <a:latin typeface="Calibri"/>
              </a:rPr>
              <a:t>runbook failure </a:t>
            </a:r>
            <a:r>
              <a:rPr sz="2100">
                <a:solidFill>
                  <a:srgbClr val="222E3B"/>
                </a:solidFill>
                <a:latin typeface="Calibri"/>
              </a:rPr>
              <a:t>→ job Failed → Azure Monitor alert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2100" b="0">
                <a:solidFill>
                  <a:srgbClr val="222E3B"/>
                </a:solidFill>
                <a:latin typeface="Calibri"/>
              </a:rPr>
              <a:t/>
            </a:r>
            <a:r>
              <a:rPr b="1" sz="2100">
                <a:solidFill>
                  <a:srgbClr val="222E3B"/>
                </a:solidFill>
                <a:latin typeface="Calibri"/>
              </a:rPr>
              <a:t>offline proof </a:t>
            </a:r>
            <a:r>
              <a:rPr sz="2100">
                <a:solidFill>
                  <a:srgbClr val="222E3B"/>
                </a:solidFill>
                <a:latin typeface="Calibri"/>
              </a:rPr>
              <a:t>= Tests\Run-Tests.ps1, 54/54 assertions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16733520"/>
            <a:ext cx="3275838" cy="1463040"/>
          </a:xfrm>
          <a:prstGeom prst="roundRect">
            <a:avLst/>
          </a:prstGeom>
          <a:solidFill>
            <a:srgbClr val="EEF3FA"/>
          </a:solidFill>
          <a:ln w="1587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4000" b="1">
                <a:solidFill>
                  <a:srgbClr val="005A9E"/>
                </a:solidFill>
                <a:latin typeface="Calibri"/>
              </a:rPr>
              <a:t>20+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>
                <a:solidFill>
                  <a:srgbClr val="5B6B7C"/>
                </a:solidFill>
                <a:latin typeface="Calibri"/>
              </a:rPr>
              <a:t>patch codes covered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10278" y="16733520"/>
            <a:ext cx="3275838" cy="1463040"/>
          </a:xfrm>
          <a:prstGeom prst="roundRect">
            <a:avLst/>
          </a:prstGeom>
          <a:solidFill>
            <a:srgbClr val="EEF3FA"/>
          </a:solidFill>
          <a:ln w="1587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4000" b="1">
                <a:solidFill>
                  <a:srgbClr val="005A9E"/>
                </a:solidFill>
                <a:latin typeface="Calibri"/>
              </a:rPr>
              <a:t>35+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>
                <a:solidFill>
                  <a:srgbClr val="5B6B7C"/>
                </a:solidFill>
                <a:latin typeface="Calibri"/>
              </a:rPr>
              <a:t>app codes covered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06156" y="16733520"/>
            <a:ext cx="3275838" cy="1463040"/>
          </a:xfrm>
          <a:prstGeom prst="roundRect">
            <a:avLst/>
          </a:prstGeom>
          <a:solidFill>
            <a:srgbClr val="EEF3FA"/>
          </a:solidFill>
          <a:ln w="1587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4000" b="1">
                <a:solidFill>
                  <a:srgbClr val="005A9E"/>
                </a:solidFill>
                <a:latin typeface="Calibri"/>
              </a:rPr>
              <a:t>54/54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>
                <a:solidFill>
                  <a:srgbClr val="5B6B7C"/>
                </a:solidFill>
                <a:latin typeface="Calibri"/>
              </a:rPr>
              <a:t>offline tests pass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702034" y="16733520"/>
            <a:ext cx="3275838" cy="1463040"/>
          </a:xfrm>
          <a:prstGeom prst="roundRect">
            <a:avLst/>
          </a:prstGeom>
          <a:solidFill>
            <a:srgbClr val="EEF3FA"/>
          </a:solidFill>
          <a:ln w="1587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4000" b="1">
                <a:solidFill>
                  <a:srgbClr val="005A9E"/>
                </a:solidFill>
                <a:latin typeface="Calibri"/>
              </a:rPr>
              <a:t>0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>
                <a:solidFill>
                  <a:srgbClr val="5B6B7C"/>
                </a:solidFill>
                <a:latin typeface="Calibri"/>
              </a:rPr>
              <a:t>secrets stored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5297912" y="16733520"/>
            <a:ext cx="3275838" cy="1463040"/>
          </a:xfrm>
          <a:prstGeom prst="roundRect">
            <a:avLst/>
          </a:prstGeom>
          <a:solidFill>
            <a:srgbClr val="EEF3FA"/>
          </a:solidFill>
          <a:ln w="1587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4000" b="1">
                <a:solidFill>
                  <a:srgbClr val="005A9E"/>
                </a:solidFill>
                <a:latin typeface="Calibri"/>
              </a:rPr>
              <a:t>20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>
                <a:solidFill>
                  <a:srgbClr val="5B6B7C"/>
                </a:solidFill>
                <a:latin typeface="Calibri"/>
              </a:rPr>
              <a:t>ops per $batch call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8893790" y="16733520"/>
            <a:ext cx="3275838" cy="1463040"/>
          </a:xfrm>
          <a:prstGeom prst="roundRect">
            <a:avLst/>
          </a:prstGeom>
          <a:solidFill>
            <a:srgbClr val="EEF3FA"/>
          </a:solidFill>
          <a:ln w="1587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4000" b="1">
                <a:solidFill>
                  <a:srgbClr val="005A9E"/>
                </a:solidFill>
                <a:latin typeface="Calibri"/>
              </a:rPr>
              <a:t>6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>
                <a:solidFill>
                  <a:srgbClr val="5B6B7C"/>
                </a:solidFill>
                <a:latin typeface="Calibri"/>
              </a:rPr>
              <a:t>retries on 429/5xx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2489668" y="16733520"/>
            <a:ext cx="3275838" cy="1463040"/>
          </a:xfrm>
          <a:prstGeom prst="roundRect">
            <a:avLst/>
          </a:prstGeom>
          <a:solidFill>
            <a:srgbClr val="EEF3FA"/>
          </a:solidFill>
          <a:ln w="1587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4000" b="1">
                <a:solidFill>
                  <a:srgbClr val="005A9E"/>
                </a:solidFill>
                <a:latin typeface="Calibri"/>
              </a:rPr>
              <a:t>1000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>
                <a:solidFill>
                  <a:srgbClr val="5B6B7C"/>
                </a:solidFill>
                <a:latin typeface="Calibri"/>
              </a:rPr>
              <a:t>rows per Graph page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6085546" y="16733520"/>
            <a:ext cx="3275838" cy="1463040"/>
          </a:xfrm>
          <a:prstGeom prst="roundRect">
            <a:avLst/>
          </a:prstGeom>
          <a:solidFill>
            <a:srgbClr val="EEF3FA"/>
          </a:solidFill>
          <a:ln w="1587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4000" b="1">
                <a:solidFill>
                  <a:srgbClr val="005A9E"/>
                </a:solidFill>
                <a:latin typeface="Calibri"/>
              </a:rPr>
              <a:t>daily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>
                <a:solidFill>
                  <a:srgbClr val="5B6B7C"/>
                </a:solidFill>
                <a:latin typeface="Calibri"/>
              </a:rPr>
              <a:t>06:00 schedule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0" y="18608040"/>
            <a:ext cx="17068190" cy="1280160"/>
          </a:xfrm>
          <a:prstGeom prst="roundRect">
            <a:avLst/>
          </a:prstGeom>
          <a:solidFill>
            <a:srgbClr val="E7F3E7"/>
          </a:solidFill>
          <a:ln w="1587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300" b="1">
                <a:solidFill>
                  <a:srgbClr val="107C10"/>
                </a:solidFill>
                <a:latin typeface="Calibri"/>
              </a:rPr>
              <a:t>Rollout: offline tests → -DryRun against prod → pilot one code → full daily sync → -CleanupOrphanedGroups last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>
                <a:solidFill>
                  <a:srgbClr val="222E3B"/>
                </a:solidFill>
                <a:latin typeface="Calibri"/>
              </a:rPr>
              <a:t>Alerting armed before Phase 3; two clean weeks of job runs before cleanup is enabled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8531230" y="18608040"/>
            <a:ext cx="10830153" cy="1280160"/>
          </a:xfrm>
          <a:prstGeom prst="roundRect">
            <a:avLst/>
          </a:prstGeom>
          <a:solidFill>
            <a:srgbClr val="FBEFE8"/>
          </a:solidFill>
          <a:ln w="1587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300" b="1">
                <a:solidFill>
                  <a:srgbClr val="C43E1C"/>
                </a:solidFill>
                <a:latin typeface="Calibri"/>
              </a:rPr>
              <a:t>Licensing checkpoint: Intune Remediations require Windows Enterprise E3/E5, Education A3/A5 or VDA per user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>
                <a:solidFill>
                  <a:srgbClr val="222E3B"/>
                </a:solidFill>
                <a:latin typeface="Calibri"/>
              </a:rPr>
              <a:t>Report endpoints (update alerts / app status) are documented, no SLA – isolated behind one helper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20153376"/>
            <a:ext cx="30275784" cy="1234440"/>
          </a:xfrm>
          <a:prstGeom prst="rect">
            <a:avLst/>
          </a:prstGeom>
          <a:solidFill>
            <a:srgbClr val="1B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20427696"/>
            <a:ext cx="15645841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0">
                <a:solidFill>
                  <a:srgbClr val="9FC4E8"/>
                </a:solidFill>
                <a:latin typeface="Calibri"/>
              </a:rPr>
              <a:t>IntunePatchPal  ·  your fleet's patch buddy  ·  Azure Automation · Microsoft Graph · Entra groups · Intune Remediations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560241" y="20427696"/>
            <a:ext cx="1280114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100" b="0">
                <a:solidFill>
                  <a:srgbClr val="9FC4E8"/>
                </a:solidFill>
                <a:latin typeface="Calibri"/>
              </a:rPr>
              <a:t>Regenerate: python Tests\Build-Poster.py  ·  python Tests\Build-Presentation.py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IntunePatchPal - Poster</dc:title>
  <dc:subject/>
  <dc:creator>IntunePatchPal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