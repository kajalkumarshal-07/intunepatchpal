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213878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 landscape poster companion to the 21-slide deck. Regenerate with python Tests\Build-Poster.py, then export PNG via PowerPoint (File &gt; Export, or Tests\Export-PosterPng.ps1).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288036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30275784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2240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240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B9D6F2"/>
                </a:solidFill>
                <a:latin typeface="Calibri"/>
              </a:rPr>
              <a:t>Automated detection, error-code grouping and safe remediation of Windows Update and app installation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88984" y="173736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Repository: C:\Users\SAM\Documents\IntuneRemediations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Technical deck (21 slides) + this poster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84469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5A9E"/>
                </a:solidFill>
                <a:latin typeface="Calibri"/>
              </a:rPr>
              <a:t>1  ·  The closed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Azure Automation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PowerShell runbook, daily schedule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Managed identity – no secrets 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70448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14566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read failure states (paged, retried)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create/update groups + members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1770613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4732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Entra error-code groups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Intune-PatchError-{code}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Intune-AppError-{code}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670780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614898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107C10"/>
                </a:solidFill>
                <a:latin typeface="Calibri"/>
              </a:rPr>
              <a:t>Intune Remediations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one assignment per group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detection exit 0/1 → fix runs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570946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515064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Windows devices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fix runs as SYSTEM via IME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State|Detail lands in the report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6645615" y="6373368"/>
            <a:ext cx="585216" cy="457200"/>
          </a:xfrm>
          <a:prstGeom prst="down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6876288"/>
            <a:ext cx="28446984" cy="86868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B3A5B"/>
                </a:solidFill>
                <a:latin typeface="Calibri"/>
              </a:rPr>
              <a:t>↺  Closed loop: remediated devices change state → Graph reflects it → the next daily run empties the group → the assignment stops applying</a:t>
            </a:r>
          </a:p>
        </p:txBody>
      </p:sp>
      <p:sp>
        <p:nvSpPr>
          <p:cNvPr id="19" name="Up Arrow 18"/>
          <p:cNvSpPr/>
          <p:nvPr/>
        </p:nvSpPr>
        <p:spPr>
          <a:xfrm>
            <a:off x="3044952" y="7790688"/>
            <a:ext cx="585216" cy="457200"/>
          </a:xfrm>
          <a:prstGeom prst="up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458200"/>
            <a:ext cx="284469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5A9E"/>
                </a:solidFill>
                <a:latin typeface="Calibri"/>
              </a:rPr>
              <a:t>2  ·  How it works – sync, safety, contract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9189720"/>
            <a:ext cx="9055608" cy="71323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800" b="1">
                <a:solidFill>
                  <a:srgbClr val="005A9E"/>
                </a:solidFill>
                <a:latin typeface="Calibri"/>
              </a:rPr>
              <a:t>Daily group sync – 9 steps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1  </a:t>
            </a:r>
            <a:r>
              <a:rPr sz="2100">
                <a:solidFill>
                  <a:srgbClr val="222E3B"/>
                </a:solidFill>
                <a:latin typeface="Calibri"/>
              </a:rPr>
              <a:t>auth – managed identity, or -Interactive locally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2  </a:t>
            </a:r>
            <a:r>
              <a:rPr sz="2100">
                <a:solidFill>
                  <a:srgbClr val="222E3B"/>
                </a:solidFill>
                <a:latin typeface="Calibri"/>
              </a:rPr>
              <a:t>read paged windowsUpdateStates / deviceStatuses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3  </a:t>
            </a:r>
            <a:r>
              <a:rPr sz="2100">
                <a:solidFill>
                  <a:srgbClr val="222E3B"/>
                </a:solidFill>
                <a:latin typeface="Calibri"/>
              </a:rPr>
              <a:t>filter status = failed, bucket rows by errorCode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4  </a:t>
            </a:r>
            <a:r>
              <a:rPr sz="2100">
                <a:solidFill>
                  <a:srgbClr val="222E3B"/>
                </a:solidFill>
                <a:latin typeface="Calibri"/>
              </a:rPr>
              <a:t>find or create Intune-PatchError-{code} groups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5  </a:t>
            </a:r>
            <a:r>
              <a:rPr sz="2100">
                <a:solidFill>
                  <a:srgbClr val="222E3B"/>
                </a:solidFill>
                <a:latin typeface="Calibri"/>
              </a:rPr>
              <a:t>guard: groups without the automation marker are skipped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6  </a:t>
            </a:r>
            <a:r>
              <a:rPr sz="2100">
                <a:solidFill>
                  <a:srgbClr val="222E3B"/>
                </a:solidFill>
                <a:latin typeface="Calibri"/>
              </a:rPr>
              <a:t>diff members → toAdd / toRemove sets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7  </a:t>
            </a:r>
            <a:r>
              <a:rPr sz="2100">
                <a:solidFill>
                  <a:srgbClr val="222E3B"/>
                </a:solidFill>
                <a:latin typeface="Calibri"/>
              </a:rPr>
              <a:t>write in $batch – 20 membership ops per call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8  </a:t>
            </a:r>
            <a:r>
              <a:rPr sz="2100">
                <a:solidFill>
                  <a:srgbClr val="222E3B"/>
                </a:solidFill>
                <a:latin typeface="Calibri"/>
              </a:rPr>
              <a:t>sweep codes with zero failures – empty (delete only with -Cleanup)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9  </a:t>
            </a:r>
            <a:r>
              <a:rPr sz="2100">
                <a:solidFill>
                  <a:srgbClr val="222E3B"/>
                </a:solidFill>
                <a:latin typeface="Calibri"/>
              </a:rPr>
              <a:t>report every count → any real failure throws → alert fires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10088" y="9189720"/>
            <a:ext cx="9055608" cy="7132320"/>
          </a:xfrm>
          <a:prstGeom prst="roundRect">
            <a:avLst/>
          </a:prstGeom>
          <a:solidFill>
            <a:srgbClr val="FBEFE8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800" b="1">
                <a:solidFill>
                  <a:srgbClr val="C43E1C"/>
                </a:solidFill>
                <a:latin typeface="Calibri"/>
              </a:rPr>
              <a:t>Safety: risky default → this repo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DISM /ResetBase </a:t>
            </a:r>
            <a:r>
              <a:rPr sz="2100">
                <a:solidFill>
                  <a:srgbClr val="222E3B"/>
                </a:solidFill>
                <a:latin typeface="Calibri"/>
              </a:rPr>
              <a:t>→ StartComponentCleanup only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chkdsk /r scheduled </a:t>
            </a:r>
            <a:r>
              <a:rPr sz="2100">
                <a:solidFill>
                  <a:srgbClr val="222E3B"/>
                </a:solidFill>
                <a:latin typeface="Calibri"/>
              </a:rPr>
              <a:t>→ read-only scan, /f behind -AllowChkdsk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kill every service / msiexec </a:t>
            </a:r>
            <a:r>
              <a:rPr sz="2100">
                <a:solidFill>
                  <a:srgbClr val="222E3B"/>
                </a:solidFill>
                <a:latin typeface="Calibri"/>
              </a:rPr>
              <a:t>→ age-gated (&gt;30 min), top-5 report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netsh winsock reset </a:t>
            </a:r>
            <a:r>
              <a:rPr sz="2100">
                <a:solidFill>
                  <a:srgbClr val="222E3B"/>
                </a:solidFill>
                <a:latin typeface="Calibri"/>
              </a:rPr>
              <a:t>→ DNS cache + guidance only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delete WinSxS\pending.xml </a:t>
            </a:r>
            <a:r>
              <a:rPr sz="2100">
                <a:solidFill>
                  <a:srgbClr val="222E3B"/>
                </a:solidFill>
                <a:latin typeface="Calibri"/>
              </a:rPr>
              <a:t>→ never touched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always exit 0 </a:t>
            </a:r>
            <a:r>
              <a:rPr sz="2100">
                <a:solidFill>
                  <a:srgbClr val="222E3B"/>
                </a:solidFill>
                <a:latin typeface="Calibri"/>
              </a:rPr>
              <a:t>→ Verified / Unknown → 0, Failed → 1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-DryRun </a:t>
            </a:r>
            <a:r>
              <a:rPr sz="2100">
                <a:solidFill>
                  <a:srgbClr val="222E3B"/>
                </a:solidFill>
                <a:latin typeface="Calibri"/>
              </a:rPr>
              <a:t>previews every create/add/remove before it happens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ownership marker </a:t>
            </a:r>
            <a:r>
              <a:rPr sz="2100">
                <a:solidFill>
                  <a:srgbClr val="222E3B"/>
                </a:solidFill>
                <a:latin typeface="Calibri"/>
              </a:rPr>
              <a:t>protects groups made by humans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305776" y="9189720"/>
            <a:ext cx="9055608" cy="7132320"/>
          </a:xfrm>
          <a:prstGeom prst="roundRect">
            <a:avLst/>
          </a:prstGeom>
          <a:solidFill>
            <a:srgbClr val="E7F3E7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800" b="1">
                <a:solidFill>
                  <a:srgbClr val="107C10"/>
                </a:solidFill>
                <a:latin typeface="Calibri"/>
              </a:rPr>
              <a:t>Contract &amp; coverage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detection exit 0 </a:t>
            </a:r>
            <a:r>
              <a:rPr sz="2100">
                <a:solidFill>
                  <a:srgbClr val="222E3B"/>
                </a:solidFill>
                <a:latin typeface="Calibri"/>
              </a:rPr>
              <a:t>= compliant, exit 1 = run the fix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remediation exit 0 </a:t>
            </a:r>
            <a:r>
              <a:rPr sz="2100">
                <a:solidFill>
                  <a:srgbClr val="222E3B"/>
                </a:solidFill>
                <a:latin typeface="Calibri"/>
              </a:rPr>
              <a:t>= Verified / Unknown, exit 1 = Failed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report line </a:t>
            </a:r>
            <a:r>
              <a:rPr sz="2100">
                <a:solidFill>
                  <a:srgbClr val="222E3B"/>
                </a:solidFill>
                <a:latin typeface="Calibri"/>
              </a:rPr>
              <a:t>= State|Detail per device in Intune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20+ patch codes </a:t>
            </a:r>
            <a:r>
              <a:rPr sz="2100">
                <a:solidFill>
                  <a:srgbClr val="222E3B"/>
                </a:solidFill>
                <a:latin typeface="Calibri"/>
              </a:rPr>
              <a:t>+ 35+ app codes (MSI 1601–1642, 0x87D0…)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unknown code </a:t>
            </a:r>
            <a:r>
              <a:rPr sz="2100">
                <a:solidFill>
                  <a:srgbClr val="222E3B"/>
                </a:solidFill>
                <a:latin typeface="Calibri"/>
              </a:rPr>
              <a:t>= compliant – never loops on what we can't verify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logs </a:t>
            </a:r>
            <a:r>
              <a:rPr sz="2100">
                <a:solidFill>
                  <a:srgbClr val="222E3B"/>
                </a:solidFill>
                <a:latin typeface="Calibri"/>
              </a:rPr>
              <a:t>= %TEMP%\IntuneDetection.log / IntuneRemediation.log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runbook failure </a:t>
            </a:r>
            <a:r>
              <a:rPr sz="2100">
                <a:solidFill>
                  <a:srgbClr val="222E3B"/>
                </a:solidFill>
                <a:latin typeface="Calibri"/>
              </a:rPr>
              <a:t>→ job Failed → Azure Monitor alert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offline proof </a:t>
            </a:r>
            <a:r>
              <a:rPr sz="2100">
                <a:solidFill>
                  <a:srgbClr val="222E3B"/>
                </a:solidFill>
                <a:latin typeface="Calibri"/>
              </a:rPr>
              <a:t>= Tests\Run-Tests.ps1, 40/40 assertions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20+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patch codes covered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0278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35+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app codes covered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6156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40/40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offline tests pass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702034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secrets stored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297912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20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ops per $batch call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893790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retries on 429/5xx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89668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1000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rows per Graph page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085546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daily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06:00 schedule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18608040"/>
            <a:ext cx="17068190" cy="1280160"/>
          </a:xfrm>
          <a:prstGeom prst="roundRect">
            <a:avLst/>
          </a:prstGeom>
          <a:solidFill>
            <a:srgbClr val="E7F3E7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107C10"/>
                </a:solidFill>
                <a:latin typeface="Calibri"/>
              </a:rPr>
              <a:t>Rollout: offline tests → -DryRun against prod → pilot one code → full daily sync → -CleanupOrphanedGroups last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22E3B"/>
                </a:solidFill>
                <a:latin typeface="Calibri"/>
              </a:rPr>
              <a:t>Alerting armed before Phase 3; two clean weeks of job runs before cleanup is enabled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531230" y="18608040"/>
            <a:ext cx="10830153" cy="1280160"/>
          </a:xfrm>
          <a:prstGeom prst="roundRect">
            <a:avLst/>
          </a:prstGeom>
          <a:solidFill>
            <a:srgbClr val="FBEFE8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C43E1C"/>
                </a:solidFill>
                <a:latin typeface="Calibri"/>
              </a:rPr>
              <a:t>Licensing checkpoint: Intune Remediations require Windows Enterprise E3/E5, Education A3/A5 or VDA per user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22E3B"/>
                </a:solidFill>
                <a:latin typeface="Calibri"/>
              </a:rPr>
              <a:t>Beta endpoints (windowsUpdateStates / deviceStatuses) are documented, no SLA – isolated behind one helper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20153376"/>
            <a:ext cx="30275784" cy="123444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20427696"/>
            <a:ext cx="1564584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Intune Patch &amp; App Remediation Pipeline  ·  Azure Automation · Microsoft Graph · Entra groups · Intune Remediations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560241" y="20427696"/>
            <a:ext cx="1280114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Regenerate: python Tests\Build-Poster.py  ·  python Tests\Build-Presentation.py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Intune Patch &amp; App Remediation Pipeline - Poster</dc:title>
  <dc:subject/>
  <dc:creator>IntuneRemediations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