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Deck covers: why the pipeline exists (slides 2-3), how it is built (4-5), the end-to-end workflows (6-9), the detection/remediation contract and code matrices (10-15), quality assurance (16), and how to deploy and operate it (17-21). Every slide has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operational pain: admins export failed install/update reports, eyeball error codes, and build one-off fixes. The deck shows how this repo automates grouping and makes remediation precise and verifiable. Orange cards = risks the redesign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three-move framing is the elevator pitch. Emphasise the loop: device state → Graph → groups → remediation → device state. Membership re-sync means assignments auto-scope as errors appear and disappear — no manual group hygiene.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parallel lanes share one sync engine. Patch lane: beta reports getWindowsUpdateAlertsPerPolicyPerDeviceReport (PolicyId eq per policy). App lane: getFailedMobileAppsReport then retrieveDeviceAppInstallationStatusReport per app. Writes: v1.0 groups API + $batch membership. The bottom strip explains why the system self-heals: membership is derived state, never set-and-forget.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Design decision: Local variants used to duplicate ~130 lines each - they are now thin wrappers, so there is exactly one implementation per pipeline. The tests file is the regression gate: run it after any change (python-free, plain powershell -File).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one error code end-to-end: device fails 0x80070070 → group Intune-PatchError--2147024784 created with marker → its deviceId added via $batch → Intune assignment targeting that group starts running detection on it → next day, if the error cleared, the sweep removes it. Note the double dash: prefix + '-2147024784'. Existing group names are preserved deliberately. Failures throw so Azure Automation marks the job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 statuses come from beta report actions (no SLA). A per-app try/catch means one app with a broken status feed cannot abort the run (it counts as a failure and still surfaces in the summary). -AppFilter is useful for pilots: sync only one app's failures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old implementation did one GET per device to check membership, never followed nextLink, and had no retry - at fleet scale it was guaranteed to throttle and silently mis-sync. All six properties are covered by Tests\Run-Tests.ps1 with a mocked Invoke-MgGraphRequest.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Lifecycle is fully derived: groups exist exactly as long as their error code does (when cleanup is enabled). The double-dash name quirk is intentional - renaming would orphan existing Intune assignments in live tenants. The strip answers the most common ops question: why don't you just delete stale groups?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contract is what closes the loop with operations: 'Failed' exits give you a live list of devices where the fix did not take, instead of an all-green report from scripts that never checked. Report-only codes (packaging problems) intentionally re-report daily so guidance stays visible without mutating the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Smoke-run proof: on the build machine the new detection exits 1 with 'PendingFileRenameOperations set' - the old code exited 0 there because Test-Path can't see registry values. Targeted WUServer exits 1 only when targeted; full scan stays 0. Unknown target codes exit 0 so no remediation loop is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Verification column as the accountability mechanism. Examples: a disk-cleanup that frees nothing exits 1 (Failed) so ops sees it; DISM RestoreHealth is judged by its exit code; the reboot case is Unknown on purpose - we report but never auto-reboot, because forced reboots are a change-management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Codes without an automatic fix produce guidance in the Intune report instead of a risky action (policy conflicts, low memory, aborts). The dirty-disk row shows the flag pattern: default is a read-only scan; -AllowChkdsk schedules 'chkdsk C: /f' (never /r - /r can take hours). Intune cannot pass parameters, so the default is the safe one and the comment explains how to flip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1618 heuristic change matters most: with 'msiexec count &gt; 1', detection fired during every healthy install, which then triggered remediation to wait 15 minutes for the install it was interrupting. Stale-time (&gt;20 min) plus an abnormal process count matches the real failure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risk story for management and the review checklist for security. Every 'after' behaviour is still effective for its error code - the difference is bounded blast radius and an honest exit code. The two design flags (-AllowChkdsk, -RequireWUServer) exist because those two actions are legitimate but environment-specific.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Regression story: the mocks make Graph behaviour deterministic (paged responses, a thrown 429, batch echo). The smoke runs validate the parts mocks cannot - real registry semantics, real exit codes, real detection/remediation flow on a live Windows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Callout: the original setup doc omitted DeviceManagementApps.Read.All - the app runbook would 403 on every install-status report query. Fixed in AZURE-AUTOMATION-SETUP.md along with module guidance (Microsoft.Graph.DeviceManagement is not needed) and the alert rule. Dry-run-first is now part of the documented procedure.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vantage points: the run (job status + summary), the device (Intune report + logs), and the directory (group sizes as a poor-man's dashboard). Suggested next step: a Azure Workbook that trends group membership over time from the same Graph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are ordered so the riskiest steps (directory writes, orphan deletion, fleet-wide assignments) each sit behind an evidence gate. Phase 5 is last on purpose: deleting groups touches assignment scope, so it waits for a clean operational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Licensing is the silent killer for Remediations deployments - the feature shows up in the UI before everyone is licensed. Beta report endpoints are called out honestly: they are the only API surface for this data today, and they are isolated behind Invoke-GraphReport so swapping them is a one-line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answer to 'how does it actually work?' in one picture. Nothing talks directly: the runbook never runs remediation and Intune never edits group membership - the marker-owned group is the contract between them. That separation is also why the system degrades gracefully: if Automation is down, Intune keeps fixing whatever is already in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functions own all wire traffic: Invoke-GraphReport for POST report actions and Invoke-GraphGetAll for paged GETs. ConvertFrom-ReportRows exists because these reports return Schema+Values arrays instead of objects - losing that mapping silently is how the previous implementation 'saw' empty data on busy tenants.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'add the device to collections' answer: no per-device membership GETs, no drift - the target set comes straight from the fetch bucket, the current set from one paged read, and $batch applies only the difference. GUID validation sits between the two sets so a corrupt feed can never wipe a group; DryRun runs the identical path minus the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bake is what keeps one template per lane from becoming 49 hand-maintained copies: the code is injected at deploy time, so a template fix propagates to every package on the next deploy and the repo copy stays clean. Assignment is group-scoped, so a device only ever sees detection for codes it actually reported.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Click path for the audience: double-click Install.cmd, sign in, wait, read the checklist. Everything a second tenant needs is derived at runtime; the only first-time human action is the consent prompt. Failure at any step stops the chain with the exact log file to open.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three numbers: 57 tests passing, 25 patch + 24 app error codes covered (49 groups live), and zero destructive defaults left in the remediation path. Then open the floor - demo the DryRun output live if the audience wants to see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82296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IntunePatchPal</a:t>
            </a:r>
          </a:p>
          <a:p>
            <a:pPr>
              <a:spcBef>
                <a:spcPts val="1400"/>
              </a:spcBef>
            </a:pPr>
            <a:r>
              <a:rPr sz="1800">
                <a:solidFill>
                  <a:srgbClr val="B9D6F2"/>
                </a:solidFill>
                <a:latin typeface="Calibri"/>
              </a:rPr>
              <a:t>your fleet's patch buddy — detects, groups, fixes, tidies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400">
                <a:solidFill>
                  <a:srgbClr val="9FC4E8"/>
                </a:solidFill>
                <a:latin typeface="Calibri"/>
              </a:rPr>
              <a:t>Azure Automation  ·  Microsoft Graph  ·  Entra ID security groups  ·  Intune Remediations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300">
                <a:solidFill>
                  <a:srgbClr val="9FC4E8"/>
                </a:solidFill>
                <a:latin typeface="Calibri"/>
              </a:rPr>
              <a:t>Architecture, workflow, error matrices, safety design, testing and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7FA8CE"/>
                </a:solidFill>
                <a:latin typeface="Calibri"/>
              </a:rPr>
              <a:t>Repository: github.com/kajalkumarshal-07/IntunePatchPal (private)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Problem: Intune Failures Are Invisible and Untargeted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17830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Failures drown in reports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Windows Update and app install errors are spread across thousands of device rows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Root causes (disk, memory, WSUS policy, stuck installer...) are found by hand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MTTR is measured in tickets, not minutes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17830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Remediation cannot target the cause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Intune Remediations assign to groups - but error codes only exist inside reports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One generic script is assigned to everyone, whatever actually failed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Healthy devices get re-mediated; broken ones get the wrong fix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154680"/>
            <a:ext cx="5532120" cy="17830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Scripts that hide or cause damage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Legacy patterns: chkdsk /r, winsock resets, DISM /ResetBase, killing every service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“Exit 0 = success” without verifying - loops run daily and never fix anything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Detection bugs (registry Test-Path, English-only parsing) silently mis-fire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154680"/>
            <a:ext cx="5532120" cy="17830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No operational control loop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No grouping, no ownership markers, no dry-run before writing to the directory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No paging/throttling handling - runs fail halfway at scale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Nothing tells you when the automation itself broke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212080"/>
            <a:ext cx="11365992" cy="68580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Goal: turn raw Graph failure states into error-code groups, target the right fix at the right devices, and prove every action was taken — safely.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Solution: A Closed Loop in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39312" cy="28346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78D4"/>
                </a:solidFill>
                <a:latin typeface="Calibri"/>
              </a:rPr>
              <a:t>1 · Group per error code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Daily runbook reads Graph failure states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50">
                <a:solidFill>
                  <a:srgbClr val="222E3B"/>
                </a:solidFill>
                <a:latin typeface="Calibri"/>
              </a:rPr>
              <a:t>Each errorCode becomes an Entra security group:</a:t>
            </a:r>
            <a:r>
              <a:rPr b="0" sz="115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Intune-PatchError-{code}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Intune-AppError-{code}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Membership re-synced: devices leave the group when the failure clears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188720"/>
            <a:ext cx="3639312" cy="28346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78D4"/>
                </a:solidFill>
                <a:latin typeface="Calibri"/>
              </a:rPr>
              <a:t>2 · Target the remediation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Intune Remediation (detection + fix) is assigned to each error group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Detection asks: “does this device still show that condition?”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Exit 1 → remediation runs, only on those devices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20+ patch codes and 35+ app codes covered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188720"/>
            <a:ext cx="3639312" cy="28346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07C10"/>
                </a:solidFill>
                <a:latin typeface="Calibri"/>
              </a:rPr>
              <a:t>3 · Fix safely, prove 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Idempotent, non-destructive actions only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Post-action verification: Verified / Unknown → exit 0, Failed → exit 1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Results land in the Intune remediation report per device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50">
                <a:solidFill>
                  <a:srgbClr val="222E3B"/>
                </a:solidFill>
                <a:latin typeface="Calibri"/>
              </a:rPr>
              <a:t>Runbook failures throw → Azure Monitor alert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343400"/>
            <a:ext cx="2743200" cy="8229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44348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Calibri"/>
              </a:rPr>
              <a:t>Managed identity</a:t>
            </a:r>
          </a:p>
          <a:p>
            <a:r>
              <a:rPr sz="1050">
                <a:solidFill>
                  <a:srgbClr val="5B6B7C"/>
                </a:solidFill>
                <a:latin typeface="Calibri"/>
              </a:rPr>
              <a:t>no secrets stored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00984" y="4343400"/>
            <a:ext cx="2743200" cy="8229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0712" y="44348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Calibri"/>
              </a:rPr>
              <a:t>-DryRun</a:t>
            </a:r>
          </a:p>
          <a:p>
            <a:r>
              <a:rPr sz="1050">
                <a:solidFill>
                  <a:srgbClr val="5B6B7C"/>
                </a:solidFill>
                <a:latin typeface="Calibri"/>
              </a:rPr>
              <a:t>preview before 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4343400"/>
            <a:ext cx="2743200" cy="8229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44348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Calibri"/>
              </a:rPr>
              <a:t>40 offline tests</a:t>
            </a:r>
          </a:p>
          <a:p>
            <a:r>
              <a:rPr sz="1050">
                <a:solidFill>
                  <a:srgbClr val="5B6B7C"/>
                </a:solidFill>
                <a:latin typeface="Calibri"/>
              </a:rPr>
              <a:t>no tenant required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4343400"/>
            <a:ext cx="2743200" cy="8229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4434840"/>
            <a:ext cx="252374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78D4"/>
                </a:solidFill>
                <a:latin typeface="Calibri"/>
              </a:rPr>
              <a:t>Ownership marker</a:t>
            </a:r>
          </a:p>
          <a:p>
            <a:r>
              <a:rPr sz="1050">
                <a:solidFill>
                  <a:srgbClr val="5B6B7C"/>
                </a:solidFill>
                <a:latin typeface="Calibri"/>
              </a:rPr>
              <a:t>hand-made groups safe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5440680"/>
            <a:ext cx="11365992" cy="566928"/>
          </a:xfrm>
          <a:prstGeom prst="roundRect">
            <a:avLst/>
          </a:prstGeom>
          <a:solidFill>
            <a:srgbClr val="E3F3E3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07C10"/>
                </a:solidFill>
                <a:latin typeface="Calibri"/>
              </a:rPr>
              <a:t>Outcome: failures re-group themselves every day; the right script runs on the right devices; nothing is claimed fixed unless it was checked.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Architecture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25880"/>
            <a:ext cx="2468880" cy="11430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Azure Automation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PowerShell runbooks, daily schedule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Managed identity (Connect-MgGraph -Identity)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99232" y="1737360"/>
            <a:ext cx="502920" cy="32004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11880" y="1325880"/>
            <a:ext cx="2286000" cy="11430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Microsoft Graph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read failure states (beta)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create/update groups + members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051560"/>
            <a:ext cx="2743200" cy="914400"/>
          </a:xfrm>
          <a:prstGeom prst="roundRect">
            <a:avLst/>
          </a:prstGeom>
          <a:solidFill>
            <a:srgbClr val="E8F2FC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00">
                <a:solidFill>
                  <a:srgbClr val="222E3B"/>
                </a:solidFill>
                <a:latin typeface="Calibri"/>
              </a:rPr>
              <a:t>Patch lane</a:t>
            </a:r>
            <a:r>
              <a:rPr b="0" sz="100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update alerts report (beta)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AlertMessage → group code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26880" y="1371600"/>
            <a:ext cx="411480" cy="27432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829800" y="1051560"/>
            <a:ext cx="2194560" cy="914400"/>
          </a:xfrm>
          <a:prstGeom prst="roundRect">
            <a:avLst/>
          </a:prstGeom>
          <a:solidFill>
            <a:srgbClr val="E8F2FC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Entra groups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Intune-PatchError-{code}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286000"/>
            <a:ext cx="2743200" cy="914400"/>
          </a:xfrm>
          <a:prstGeom prst="roundRect">
            <a:avLst/>
          </a:prstGeom>
          <a:solidFill>
            <a:srgbClr val="E8F2FC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00">
                <a:solidFill>
                  <a:srgbClr val="222E3B"/>
                </a:solidFill>
                <a:latin typeface="Calibri"/>
              </a:rPr>
              <a:t>App lane</a:t>
            </a:r>
            <a:r>
              <a:rPr b="0" sz="100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app install status report (beta)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failed state → errorCode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326880" y="2606040"/>
            <a:ext cx="411480" cy="27432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829800" y="2286000"/>
            <a:ext cx="2194560" cy="914400"/>
          </a:xfrm>
          <a:prstGeom prst="roundRect">
            <a:avLst/>
          </a:prstGeom>
          <a:solidFill>
            <a:srgbClr val="E8F2FC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Entra groups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00">
                <a:solidFill>
                  <a:srgbClr val="222E3B"/>
                </a:solidFill>
                <a:latin typeface="Calibri"/>
              </a:rPr>
              <a:t>Intune-AppError-{code}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371600" y="2606040"/>
            <a:ext cx="320040" cy="457200"/>
          </a:xfrm>
          <a:prstGeom prst="down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11480" y="3977639"/>
            <a:ext cx="2743200" cy="1234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Windows devices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Entra joined / hybrid, Intune-managed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Remediation runs as SYSTEM via IME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3246120" y="4434840"/>
            <a:ext cx="457200" cy="32004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840480" y="3977639"/>
            <a:ext cx="4023360" cy="1234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07C10"/>
                </a:solidFill>
                <a:latin typeface="Calibri"/>
              </a:rPr>
              <a:t>Intune Remediations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Detection script → exit 0 compliant / exit 1 non-compliant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Remediation script → State|Detail output, exit 0 fixed / exit 1 failed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01000" y="4434840"/>
            <a:ext cx="457200" cy="320040"/>
          </a:xfrm>
          <a:prstGeom prst="rightArrow">
            <a:avLst/>
          </a:prstGeom>
          <a:solidFill>
            <a:srgbClr val="8FA8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95360" y="3977639"/>
            <a:ext cx="3108960" cy="1234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Assigned per group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One assignment per error-code group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Scope follows membership automatically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486400"/>
            <a:ext cx="11365992" cy="54864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Closed loop: remediated devices change state → Graph reflects it → next run moves them out of the group → the assignment stops applying.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Repository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38560" cy="479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68580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File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IntuneUpdateErrorGroups.ps1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Patch group-sync runbook (single source of truth): paging, retry, $batch, marker guard, sweep, -DryRun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IntuneUpdateErrorGroups-Local.ps1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Thin wrapper: installs Graph module, interactive sign-in, calls the runbook with -Interactive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App\IntuneAppErrorGroups.ps1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 group-sync runbook: failed-apps report + per-app install status rows, then the same sync engine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App\IntuneAppErrorGroups-Local.ps1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Thin wrapper for the app runbook (interactive login, -DryRun, -AppFilter)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DetectionTemplate.ps1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Patch detection: fast full scan or per-code targeted scan; exit 0/1 contract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RemediationTemplate.ps1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Patch remediation: safe actions per code + verification (Verified/Unknown/Failed)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App\DetectionTemplate.ps1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 detection: pending reboot, stale msiexec, temp writability, report-only codes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App\RemediationTemplate.ps1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App remediation: age-gated cleanup, wait/kill policy, guidance output for packaging issues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ERROR-REFERENCE.md  (x2)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Code → hex → detection → remediation tables for patches and apps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AZURE-AUTOMATION-SETUP.md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Identity, Graph app roles, module import, dry-run, schedule, alerting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Tests\Run-Tests.ps1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Offline suite: parse checks, dot-source safety, Graph helpers, report helpers, membership diff (57 assertions)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Patch Workflow: Error-Code Group Sync (9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0700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43000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Auth  </a:t>
            </a:r>
            <a:r>
              <a:rPr sz="1100">
                <a:solidFill>
                  <a:srgbClr val="222E3B"/>
                </a:solidFill>
                <a:latin typeface="Calibri"/>
              </a:rPr>
              <a:t>managed identity (runbook) or interactive sign-in (-Local); -DryRun previews everything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39696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Read  </a:t>
            </a:r>
            <a:r>
              <a:rPr sz="1100">
                <a:solidFill>
                  <a:srgbClr val="222E3B"/>
                </a:solidFill>
                <a:latin typeface="Calibri"/>
              </a:rPr>
              <a:t>POST beta reports/*UpdateAlert*Report per policy (PolicyId eq '{id}'; summary report finds the policies)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072384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08376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Filter  </a:t>
            </a:r>
            <a:r>
              <a:rPr sz="1100">
                <a:solidFill>
                  <a:srgbClr val="222E3B"/>
                </a:solidFill>
                <a:latin typeface="Calibri"/>
              </a:rPr>
              <a:t>keep rows with a DeviceId; bucket by AlertMessage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00507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41064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Match  </a:t>
            </a:r>
            <a:r>
              <a:rPr sz="1100">
                <a:solidFill>
                  <a:srgbClr val="222E3B"/>
                </a:solidFill>
                <a:latin typeface="Calibri"/>
              </a:rPr>
              <a:t>find Intune-PatchError-{code} (OData filter, quotes escaped); create with the automation marker if new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937760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873752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Guard  </a:t>
            </a:r>
            <a:r>
              <a:rPr sz="1100">
                <a:solidFill>
                  <a:srgbClr val="222E3B"/>
                </a:solidFill>
                <a:latin typeface="Calibri"/>
              </a:rPr>
              <a:t>groups without 'Managed by automation' in the description are skipped - never touched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20700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4" y="1143000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Diff  </a:t>
            </a:r>
            <a:r>
              <a:rPr sz="1100">
                <a:solidFill>
                  <a:srgbClr val="222E3B"/>
                </a:solidFill>
                <a:latin typeface="Calibri"/>
              </a:rPr>
              <a:t>read all members (paged) and compare with target deviceIds: toAdd / toRemove 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5352" y="2139696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5704" y="2075688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Write  </a:t>
            </a:r>
            <a:r>
              <a:rPr sz="1100">
                <a:solidFill>
                  <a:srgbClr val="222E3B"/>
                </a:solidFill>
                <a:latin typeface="Calibri"/>
              </a:rPr>
              <a:t>$batch, 20 ops per call: POST members/$ref adds, DELETE removes; 409/404 are benign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072384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3008376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Sweep  </a:t>
            </a:r>
            <a:r>
              <a:rPr sz="1100">
                <a:solidFill>
                  <a:srgbClr val="222E3B"/>
                </a:solidFill>
                <a:latin typeface="Calibri"/>
              </a:rPr>
              <a:t>codes with zero current failures: members removed; group deleted only with -CleanupOrphanedGroups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5352" y="400507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3941064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Report  </a:t>
            </a:r>
            <a:r>
              <a:rPr sz="1100">
                <a:solidFill>
                  <a:srgbClr val="222E3B"/>
                </a:solidFill>
                <a:latin typeface="Calibri"/>
              </a:rPr>
              <a:t>summary line with every count; any real failure → throw → job Failed → alert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4937760"/>
            <a:ext cx="5623560" cy="960120"/>
          </a:xfrm>
          <a:prstGeom prst="roundRect">
            <a:avLst/>
          </a:prstGeom>
          <a:solidFill>
            <a:srgbClr val="1B3A5B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Summary line (machine-readable):
created=0 synced=3 cleared=1 deleted=0 membersAdded=5 membersRemoved=2
membersSkipped=1 invalidDeviceIds=0 failures=0 dryRun=False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App Workflow: From App Catalog to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5272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8872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Auth  </a:t>
            </a:r>
            <a:r>
              <a:rPr sz="1100">
                <a:solidFill>
                  <a:srgbClr val="222E3B"/>
                </a:solidFill>
                <a:latin typeface="Calibri"/>
              </a:rPr>
              <a:t>same engine as the patch runbook; -DryRun supported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1284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4884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Enumerate  </a:t>
            </a:r>
            <a:r>
              <a:rPr sz="1100">
                <a:solidFill>
                  <a:srgbClr val="222E3B"/>
                </a:solidFill>
                <a:latin typeface="Calibri"/>
              </a:rPr>
              <a:t>POST getFailedMobileAppsReport (apps with failures); -AppFilter narrows by app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7296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0896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Per app  </a:t>
            </a:r>
            <a:r>
              <a:rPr sz="1100">
                <a:solidFill>
                  <a:srgbClr val="222E3B"/>
                </a:solidFill>
                <a:latin typeface="Calibri"/>
              </a:rPr>
              <a:t>POST retrieveDeviceAppInstallationStatusReport, filter (ApplicationId eq ...) (paged, try/catch per app)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13308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06908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Aggregate  </a:t>
            </a:r>
            <a:r>
              <a:rPr sz="1100">
                <a:solidFill>
                  <a:srgbClr val="222E3B"/>
                </a:solidFill>
                <a:latin typeface="Calibri"/>
              </a:rPr>
              <a:t>rows reduced to deviceId + errorCode; grouped by errorCode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09320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029200"/>
            <a:ext cx="52303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Sync + sweep  </a:t>
            </a:r>
            <a:r>
              <a:rPr sz="1100">
                <a:solidFill>
                  <a:srgbClr val="222E3B"/>
                </a:solidFill>
                <a:latin typeface="Calibri"/>
              </a:rPr>
              <a:t>identical to patch: marker guard, diff, $batch writes, stale-group emptying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188720"/>
            <a:ext cx="5257800" cy="141732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MSI installer codes 1601–1642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1601 service failed · 1602 user cancel · 1603 fatal · 1618 install in progress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1619 package unreadable · 1632 temp unwritable · 1638 version conflict · 1641 reboot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2788920"/>
            <a:ext cx="5257800" cy="141732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Intune Win32 codes 0x87D0…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-2016281111 detection said not installed · -2016344807 requirement not met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-2016281109/12/13/14 script failed / timeout / file / registry path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4389120"/>
            <a:ext cx="5257800" cy="141732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07C10"/>
                </a:solidFill>
                <a:latin typeface="Calibri"/>
              </a:rPr>
              <a:t>System codes (shared with patch lane)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-2147024784 disk · -2147021879 reboot · -2147024891 memory · -2147024894 file missing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Kept in the AppError prefix so app and patch groups never collide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5897880"/>
            <a:ext cx="11365992" cy="50292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Scale note: app statuses are read sequentially (paged per app, failing apps only); all membership writes are batched - the expensive part stays cheap.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Graph Hardening: What Makes It Prod-Grade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Pagination everywhere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Every list read loops on @odata.nextLink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Old code stopped at page 1: 100 devices, 500 apps - silent truncation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188720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Throttle-aware retries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Exponential backoff + jitter on 429/500/502/503/504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6 attempts, delay capped at 60s, then rethrow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5" y="1188720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JSON $batch writes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20 membership ops per HTTP call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5,000 devices ≈ 250 calls instead of ~10,000 individual POSTs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291839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Input validation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Device ids must be GUIDs; invalid ids counted + skipped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If every target id is invalid the sync aborts - a bad feed cannot empty a group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3291839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Directory ownership guard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Groups are only modified if the description contains 'Managed by automation'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Look-alike groups created by humans get a warning, not a rewrite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29015" y="3291839"/>
            <a:ext cx="3657600" cy="19202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Fault isolation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Each group sync is its own try/catch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Benign 409 (already member) / 404 (gone) are skipped; real errors count toward failures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440680"/>
            <a:ext cx="11365992" cy="59436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Failure model: fatal errors and any non-benign membership failures make the runbook throw → Azure Automation marks the job Failed → your alert fires. Success is explicit, not assumed.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Group Lifecycle &amp; Naming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9</a:t>
            </a:r>
          </a:p>
        </p:txBody>
      </p:sp>
      <p:sp>
        <p:nvSpPr>
          <p:cNvPr id="7" name="Chevron 6"/>
          <p:cNvSpPr/>
          <p:nvPr/>
        </p:nvSpPr>
        <p:spPr>
          <a:xfrm>
            <a:off x="36576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No group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error code absent</a:t>
            </a:r>
          </a:p>
        </p:txBody>
      </p:sp>
      <p:sp>
        <p:nvSpPr>
          <p:cNvPr id="8" name="Chevron 7"/>
          <p:cNvSpPr/>
          <p:nvPr/>
        </p:nvSpPr>
        <p:spPr>
          <a:xfrm>
            <a:off x="269748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Created + members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first failure appears</a:t>
            </a:r>
          </a:p>
        </p:txBody>
      </p:sp>
      <p:sp>
        <p:nvSpPr>
          <p:cNvPr id="9" name="Chevron 8"/>
          <p:cNvSpPr/>
          <p:nvPr/>
        </p:nvSpPr>
        <p:spPr>
          <a:xfrm>
            <a:off x="502920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Re-synced daily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membership tracks state</a:t>
            </a:r>
          </a:p>
        </p:txBody>
      </p:sp>
      <p:sp>
        <p:nvSpPr>
          <p:cNvPr id="10" name="Chevron 9"/>
          <p:cNvSpPr/>
          <p:nvPr/>
        </p:nvSpPr>
        <p:spPr>
          <a:xfrm>
            <a:off x="736092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Emptied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code no longer occurs</a:t>
            </a:r>
          </a:p>
        </p:txBody>
      </p:sp>
      <p:sp>
        <p:nvSpPr>
          <p:cNvPr id="11" name="Chevron 10"/>
          <p:cNvSpPr/>
          <p:nvPr/>
        </p:nvSpPr>
        <p:spPr>
          <a:xfrm>
            <a:off x="9692640" y="1371600"/>
            <a:ext cx="237744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Deleted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only with -Cleanup flag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926080"/>
            <a:ext cx="5532120" cy="15544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Ownership marker (safety rail)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Created groups get: 'Managed by automation' in the description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Marker present → sync, empty, or (with flag) delete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Marker absent → warn and leave alone, even if the name matches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926080"/>
            <a:ext cx="5532120" cy="15544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Naming (stable - not renamed)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Intune-PatchError--2147024784   (prefix + '-' + negative code = double dash)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Intune-AppError-1618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mailNickname sanitized to [a-zA-Z0-9]; display names preserved for existing tenants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754880"/>
            <a:ext cx="11365992" cy="1188720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50" b="0">
                <a:solidFill>
                  <a:srgbClr val="8A5300"/>
                </a:solidFill>
                <a:latin typeface="Calibri"/>
              </a:rPr>
              <a:t>Why empty instead of delete?  An Intune assignment may target the group. Keeping the group with zero members simply stops the assignment from applying - deleting it would silently drop the assignment's scope. -CleanupOrphanedGroups is the explicit opt-in for removing the empty shell too.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The Contract: Exit Codes and Report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Contract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15087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Detection script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exit 0 → compliant: </a:t>
            </a:r>
            <a:r>
              <a:rPr b="0" sz="1100">
                <a:solidFill>
                  <a:srgbClr val="222E3B"/>
                </a:solidFill>
                <a:latin typeface="Calibri"/>
              </a:rPr>
              <a:t>take no action, device is fine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exit 1 → non-compliant: </a:t>
            </a:r>
            <a:r>
              <a:rPr b="0" sz="1100">
                <a:solidFill>
                  <a:srgbClr val="222E3B"/>
                </a:solidFill>
                <a:latin typeface="Calibri"/>
              </a:rPr>
              <a:t>run the remediation script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Detection error → exit 0 by default: </a:t>
            </a:r>
            <a:r>
              <a:rPr b="0" sz="1100">
                <a:solidFill>
                  <a:srgbClr val="222E3B"/>
                </a:solidFill>
                <a:latin typeface="Calibri"/>
              </a:rPr>
              <a:t>a broken check must not trigger fleet-wide fixes (-Strict flips this)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15087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  <a:latin typeface="Calibri"/>
              </a:rPr>
              <a:t>Remediation script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exit 0 → Verified or Unknown: </a:t>
            </a:r>
            <a:r>
              <a:rPr b="0" sz="1100">
                <a:solidFill>
                  <a:srgbClr val="222E3B"/>
                </a:solidFill>
                <a:latin typeface="Calibri"/>
              </a:rPr>
              <a:t>fixed, or honestly not provable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exit 1 → Failed: </a:t>
            </a:r>
            <a:r>
              <a:rPr b="0" sz="1100">
                <a:solidFill>
                  <a:srgbClr val="222E3B"/>
                </a:solidFill>
                <a:latin typeface="Calibri"/>
              </a:rPr>
              <a:t>action ran but the condition remains - visible in Intune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Old behaviour: </a:t>
            </a:r>
            <a:r>
              <a:rPr b="0" sz="1100">
                <a:solidFill>
                  <a:srgbClr val="222E3B"/>
                </a:solidFill>
                <a:latin typeface="Calibri"/>
              </a:rPr>
              <a:t>always exit 0 → broken remediations looked successful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2971800"/>
          <a:ext cx="11365992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206240"/>
                <a:gridCol w="313639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Output line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Where it appears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Non-compliant|code|reason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Non-compliant|-2147024784|Low disk space: 2.1 GB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detection output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State|detail (fixed)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Verified|free space now 12.4 GB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remediation output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State|detail (not fixed)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Failed|WUServer policy still missing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remediation output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Reboot / guidance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RebootRequired|reboot pending, not forced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remediation output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Report-only codes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ProductVersionConflict|fix supersede rules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Intune - remediation output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11480" y="5623560"/>
            <a:ext cx="11365992" cy="54864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Log files per device: %TEMP%\IntuneDetection.log and %TEMP%\IntuneRemediation.log (timestamped, appended, safe to pull during a support call).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Patch Detection: Fast Scan + Targeted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32004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Full scan (default, every cycle - fast)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1. </a:t>
            </a:r>
            <a:r>
              <a:rPr b="0" sz="1100">
                <a:solidFill>
                  <a:srgbClr val="222E3B"/>
                </a:solidFill>
                <a:latin typeface="Calibri"/>
              </a:rPr>
              <a:t>pending reboot: registry VALUE PendingFileRenameOperations, WU RebootRequired, CBS RebootPending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2. </a:t>
            </a:r>
            <a:r>
              <a:rPr b="0" sz="1100">
                <a:solidFill>
                  <a:srgbClr val="222E3B"/>
                </a:solidFill>
                <a:latin typeface="Calibri"/>
              </a:rPr>
              <a:t>disk free &lt; 5 GB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3. </a:t>
            </a:r>
            <a:r>
              <a:rPr b="0" sz="1100">
                <a:solidFill>
                  <a:srgbClr val="222E3B"/>
                </a:solidFill>
                <a:latin typeface="Calibri"/>
              </a:rPr>
              <a:t>free memory &lt; 256 MB (was mislabeled 1 MB = 1 GB)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4. </a:t>
            </a:r>
            <a:r>
              <a:rPr b="0" sz="1100">
                <a:solidFill>
                  <a:srgbClr val="222E3B"/>
                </a:solidFill>
                <a:latin typeface="Calibri"/>
              </a:rPr>
              <a:t>BITS: disabled service or errored jobs (not 'not running' - Manual start is normal)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5. </a:t>
            </a:r>
            <a:r>
              <a:rPr b="0" sz="1100">
                <a:solidFill>
                  <a:srgbClr val="222E3B"/>
                </a:solidFill>
                <a:latin typeface="Calibri"/>
              </a:rPr>
              <a:t>partial WSUS policy, or missing WUServer with -RequireWUServer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6. </a:t>
            </a:r>
            <a:r>
              <a:rPr b="0" sz="1100">
                <a:solidFill>
                  <a:srgbClr val="222E3B"/>
                </a:solidFill>
                <a:latin typeface="Calibri"/>
              </a:rPr>
              <a:t>DISM CheckHealth only with -IncludeSlowChecks (slow, so not in the hot path)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32004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5A9E"/>
                </a:solidFill>
                <a:latin typeface="Calibri"/>
              </a:rPr>
              <a:t>Targeted scan (-TargetErrorCode, group context)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One switch case per code, stricter because the group proves intent: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-2145107951: </a:t>
            </a:r>
            <a:r>
              <a:rPr b="0" sz="1100">
                <a:solidFill>
                  <a:srgbClr val="222E3B"/>
                </a:solidFill>
                <a:latin typeface="Calibri"/>
              </a:rPr>
              <a:t>missing WUServer IS non-compliant here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-2147010798: </a:t>
            </a:r>
            <a:r>
              <a:rPr b="0" sz="1100">
                <a:solidFill>
                  <a:srgbClr val="222E3B"/>
                </a:solidFill>
                <a:latin typeface="Calibri"/>
              </a:rPr>
              <a:t>DISM CheckHealth (exit code + 0x80073712 + text - locale tolerant)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-2147012886: </a:t>
            </a:r>
            <a:r>
              <a:rPr b="0" sz="1100">
                <a:solidFill>
                  <a:srgbClr val="222E3B"/>
                </a:solidFill>
                <a:latin typeface="Calibri"/>
              </a:rPr>
              <a:t>resolve the WUServer host; cloud-only (no server) = compliant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-2147023436 / -2145124305: </a:t>
            </a:r>
            <a:r>
              <a:rPr b="0" sz="1100">
                <a:solidFill>
                  <a:srgbClr val="222E3B"/>
                </a:solidFill>
                <a:latin typeface="Calibri"/>
              </a:rPr>
              <a:t>BITS disabled or jobs in error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-2147023890: </a:t>
            </a:r>
            <a:r>
              <a:rPr b="0" sz="1100">
                <a:solidFill>
                  <a:srgbClr val="222E3B"/>
                </a:solidFill>
                <a:latin typeface="Calibri"/>
              </a:rPr>
              <a:t>volume dirty bit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unknown code: </a:t>
            </a:r>
            <a:r>
              <a:rPr b="0" sz="1100">
                <a:solidFill>
                  <a:srgbClr val="222E3B"/>
                </a:solidFill>
                <a:latin typeface="Calibri"/>
              </a:rPr>
              <a:t>compliant - never loop on codes we cannot 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572000"/>
            <a:ext cx="11365992" cy="14630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C43E1C"/>
                </a:solidFill>
                <a:latin typeface="Calibri"/>
              </a:rPr>
              <a:t>Bugs fixed in detection (all verified by tests / smoke runs)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Test-Path on PendingFileRenameOperations returned False for a registry VALUE - pending reboots were never detected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WUServer-missing flagged every cloud-only device in full scan → daily false-positive remediation fleet-wide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DISM output matched English-only text → broken on localized Windows; now exit code + hex marker + text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Get-BitsTransfer 'count &gt; 1' / 'BITS not running' heuristics false-positived on normal installs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Patch Remediation Matrix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65992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645920"/>
                <a:gridCol w="5029200"/>
                <a:gridCol w="313639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Code (dec)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 taken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Verification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-2147024784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Disk space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Temp files &gt;24h + WU download cache removed; DISM StartComponentCleanup (no /ResetBase)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Free space re-check → Verified / Failed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-2147021879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Reboot pending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Report only - never forces a reboot (org policy)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Unknown + RebootRequired line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-2147010798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Component store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DISM /RestoreHealth + SFC /ScanNow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DISM exit code → Verified / Failed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-2147023436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WU timeout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Enable BITS if disabled; reset WU cache (wuauserv/bits/cryptsvc)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BITS enabled + no errored jobs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-2145107951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WUServer missing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gpupdate /force, restart wuauserv, log policy keys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WUServer present → Verified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-2147012886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DNS failure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flushdns + registerdns + Clear-DnsClientCache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Re-resolve WUServer host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-2145124305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Download failed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Stop BITS, clear Downloader queue, start BITS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22E3B"/>
                          </a:solidFill>
                          <a:latin typeface="Calibri"/>
                        </a:rPr>
                        <a:t>No jobs in Error state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669280"/>
            <a:ext cx="11365992" cy="50292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Every row is idempotent: re-running on the next cycle is harmless, and verification decides the exit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Patch Remediation Matrix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557784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371600"/>
                <a:gridCol w="27889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-2147012855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Network timeout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DNS cache + WU reset (no winsock - breaks VPN/LSP); guidance emitted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-2147012867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Server connect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Restart WU services; log proxy + WSUS config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-2145124320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No user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Report uptime only - transient, no changes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-2145124341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Cancelled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WU cache reset + wuauclt resync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-2147467260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Aborted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WU cache reset + resync (pending.xml never touched)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-2147467259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Unspecified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Full WU reset (incl. catroot2) + RestoreHealth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45352" y="1188720"/>
          <a:ext cx="553212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37160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-2147024891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Low memory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Report top-5 consumers + pagefile mode - never stops services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-2016409844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Scan timeout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Kill msiexec/tiworker older than 2h only (never trustedinstaller)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-2016409966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Policy conflict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gpresult /h report into %TEMP% for review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-2146777998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WU reg corrupt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gpupdate + WU cache reset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-2147023890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Dirty disk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Read-only Repair-Volume scan; chkdsk /f only with -AllowChkdsk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-2147010815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Assembly missing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DISM /RestoreHealth (exit-code verified)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11480" y="4800600"/>
            <a:ext cx="11365992" cy="1234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-AutoDetect mode (remediation without an error code)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Checks in order: low disk → pending reboot → BITS disabled → low memory; otherwise exits 0 with 'no known issue'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Old default ran DISM /RestoreHealth on every unknown state - heavy, slow, and unrelated to most conditions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App Detection &amp; Remediation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42976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Detection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Pending reboot: </a:t>
            </a:r>
            <a:r>
              <a:rPr b="0" sz="1100">
                <a:solidFill>
                  <a:srgbClr val="222E3B"/>
                </a:solidFill>
                <a:latin typeface="Calibri"/>
              </a:rPr>
              <a:t>same fixed registry-value read as the patch scripts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1618 install-in-progress: </a:t>
            </a:r>
            <a:r>
              <a:rPr b="0" sz="1100">
                <a:solidFill>
                  <a:srgbClr val="222E3B"/>
                </a:solidFill>
                <a:latin typeface="Calibri"/>
              </a:rPr>
              <a:t>stale heuristic - msiexec running &gt;20 min or &gt;4 processes (count &gt;1 was wrong: a healthy install is 2-3 processes)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1632 temp unwritable: </a:t>
            </a:r>
            <a:r>
              <a:rPr b="0" sz="1100">
                <a:solidFill>
                  <a:srgbClr val="222E3B"/>
                </a:solidFill>
                <a:latin typeface="Calibri"/>
              </a:rPr>
              <a:t>real write+delete probe in %TEMP% (was a disk-space proxy)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-2147024784 / -2147024891: </a:t>
            </a:r>
            <a:r>
              <a:rPr b="0" sz="1100">
                <a:solidFill>
                  <a:srgbClr val="222E3B"/>
                </a:solidFill>
                <a:latin typeface="Calibri"/>
              </a:rPr>
              <a:t>disk &lt;5 GB / memory &lt;256 MB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1638 &amp; -2147024894: </a:t>
            </a:r>
            <a:r>
              <a:rPr b="0" sz="1100">
                <a:solidFill>
                  <a:srgbClr val="222E3B"/>
                </a:solidFill>
                <a:latin typeface="Calibri"/>
              </a:rPr>
              <a:t>report-only - always non-compliant by design so the guidance line refreshes daily in the report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Unknown target code: </a:t>
            </a:r>
            <a:r>
              <a:rPr b="0" sz="1100">
                <a:solidFill>
                  <a:srgbClr val="222E3B"/>
                </a:solidFill>
                <a:latin typeface="Calibri"/>
              </a:rPr>
              <a:t>compliant (no loop)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42976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  <a:latin typeface="Calibri"/>
              </a:rPr>
              <a:t>Remediation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1602 user cancel: </a:t>
            </a:r>
            <a:r>
              <a:rPr b="0" sz="1100">
                <a:solidFill>
                  <a:srgbClr val="222E3B"/>
                </a:solidFill>
                <a:latin typeface="Calibri"/>
              </a:rPr>
              <a:t>no-op + 're-assign if unexpected' guidance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1603 fatal: </a:t>
            </a:r>
            <a:r>
              <a:rPr b="0" sz="1100">
                <a:solidFill>
                  <a:srgbClr val="222E3B"/>
                </a:solidFill>
                <a:latin typeface="Calibri"/>
              </a:rPr>
              <a:t>clear aged temp; kill msiexec only if &gt;30 min old - never all msiexec, never unrelated DISM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1618: </a:t>
            </a:r>
            <a:r>
              <a:rPr b="0" sz="1100">
                <a:solidFill>
                  <a:srgbClr val="222E3B"/>
                </a:solidFill>
                <a:latin typeface="Calibri"/>
              </a:rPr>
              <a:t>wait up to 15 min for the install to finish; kill only processes &gt;1h old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1619 package: </a:t>
            </a:r>
            <a:r>
              <a:rPr b="0" sz="1100">
                <a:solidFill>
                  <a:srgbClr val="222E3B"/>
                </a:solidFill>
                <a:latin typeface="Calibri"/>
              </a:rPr>
              <a:t>check temp access, then state 'source path is wrong - re-upload in Intune'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1632: </a:t>
            </a:r>
            <a:r>
              <a:rPr b="0" sz="1100">
                <a:solidFill>
                  <a:srgbClr val="222E3B"/>
                </a:solidFill>
                <a:latin typeface="Calibri"/>
              </a:rPr>
              <a:t>age-gated temp clear → write probe → Verified / Failed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-2016281109 script failed: </a:t>
            </a:r>
            <a:r>
              <a:rPr b="0" sz="1100">
                <a:solidFill>
                  <a:srgbClr val="222E3B"/>
                </a:solidFill>
                <a:latin typeface="Calibri"/>
              </a:rPr>
              <a:t>guidance only - execution policy is NOT changed (IME bypasses it, so flipping it never fixed anything)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669280"/>
            <a:ext cx="11365992" cy="502920"/>
          </a:xfrm>
          <a:prstGeom prst="roundRect">
            <a:avLst/>
          </a:prstGeom>
          <a:solidFill>
            <a:srgbClr val="E3F3E3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07C10"/>
                </a:solidFill>
                <a:latin typeface="Calibri"/>
              </a:rPr>
              <a:t>Principle: device-fixable conditions get actions; packaging/config problems get precise guidance in the Intune report - never a blind mutation.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Safety by Design: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65991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749039"/>
                <a:gridCol w="368503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Before (risky default)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After (this repo)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Why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DISM /StartComponentCleanup /ResetBase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StartComponentCleanup only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/ResetBase permanently blocks update uninstalls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chkdsk C: /f /r scheduled automatically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Read-only Repair-Volume scan; /f behind -AllowChkdsk, never /r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/r can occupy the device for hours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Stop every manual-start service on low memory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Report top consumers + pagefile mode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Killing services degrades a working device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netsh winsock / ip reset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DNS cache + WU service restart + guidance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Winsock resets break VPN and LSP software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Delete WinSxS\pending.xml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Never touched; guidance points to CBS.log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Breaks servicing that is in flight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Kill ALL msiexec on 1603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Only processes &gt;30 min old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Aborts healthy installs in progress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Always exit 0 after running steps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Verified / Unknown → 0, Failed → 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Success must be proven, not assumed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Set execution policy to RemoteSigned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No policy changes; guidance only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222E3B"/>
                          </a:solidFill>
                          <a:latin typeface="Calibri"/>
                        </a:rPr>
                        <a:t>IME bypasses policy anyway - pure config drift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806440"/>
            <a:ext cx="11365992" cy="45720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Temp cleanup is also age-gated (files &gt;24h): running installers keep their scratch files.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Testing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704088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"/>
                <a:gridCol w="30175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Suite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Checks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proves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Parse check (PS 5.1 parser)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Every .ps1 compiles - no syntax drift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Dot-source safety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Loading a script never executes its main block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Graph + report helpers (mocked)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Pagination, 429 retry, $batch 20+5, Schema/Values rehydration, report POST retry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Membership + DryRun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Add/remove sets, GUID guard, no-op, DryRun never writes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Detection/remediation units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Helper contracts (reboot, BITS, temp, outcomes)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57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powershell -File Tests\Run-Tests.ps1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680960" y="1188720"/>
            <a:ext cx="4096512" cy="33832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  <a:latin typeface="Calibri"/>
              </a:rPr>
              <a:t>Live smoke runs (this machine)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Full-scan detection exits 1: 'PendingFileRenameOperations set' - the bug the old code hid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Targeted WUServer → exit 1; cloud-only DNS target → exit 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Unknown code → compliant (no loop)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Remediation: no code → exit 1; unknown code → exit 1; report-only → exit 0 with State|Detail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App temp probe → compliant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4297680"/>
            <a:ext cx="7086600" cy="1737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Test design: offline by default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Invoke-MgGraphRequest and Start-Sleep are replaced by mocks - no tenant, no network, no cost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CI-ready: a non-zero exit code fails the pipeline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Docs are covered too: the parse check includes this generator's companion scripts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800600"/>
            <a:ext cx="4096512" cy="1234440"/>
          </a:xfrm>
          <a:prstGeom prst="roundRect">
            <a:avLst/>
          </a:prstGeom>
          <a:solidFill>
            <a:srgbClr val="E3F3E3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107C10"/>
                </a:solidFill>
                <a:latin typeface="Calibri"/>
              </a:rPr>
              <a:t>57 / 57 passing
powershell -File
  Tests\Run-Tests.ps1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Deployment: Azure Automation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5272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88720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Automation account  </a:t>
            </a:r>
            <a:r>
              <a:rPr sz="1100">
                <a:solidFill>
                  <a:srgbClr val="222E3B"/>
                </a:solidFill>
                <a:latin typeface="Calibri"/>
              </a:rPr>
              <a:t>create with system-assigned managed identity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25272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5704" y="1188720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Graph app roles  </a:t>
            </a:r>
            <a:r>
              <a:rPr sz="1100">
                <a:solidFill>
                  <a:srgbClr val="222E3B"/>
                </a:solidFill>
                <a:latin typeface="Calibri"/>
              </a:rPr>
              <a:t>grant 5 roles: Directory.Read.All, Group.ReadWrite.All, DeviceManagementManagedDevices.Read.All, DeviceManagementApps.Read.All, DeviceManagementConfiguration.ReadWrite.All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423160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359152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Module  </a:t>
            </a:r>
            <a:r>
              <a:rPr sz="1100">
                <a:solidFill>
                  <a:srgbClr val="222E3B"/>
                </a:solidFill>
                <a:latin typeface="Calibri"/>
              </a:rPr>
              <a:t>import Microsoft.Graph.Authentication only (runbooks use Invoke-MgGraphRequest)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2423160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5704" y="2359152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Runbooks  </a:t>
            </a:r>
            <a:r>
              <a:rPr sz="1100">
                <a:solidFill>
                  <a:srgbClr val="222E3B"/>
                </a:solidFill>
                <a:latin typeface="Calibri"/>
              </a:rPr>
              <a:t>upload IntuneUpdateErrorGroups.ps1 and App\IntuneAppErrorGroups.ps1, publish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9359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3529584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Dry run  </a:t>
            </a:r>
            <a:r>
              <a:rPr sz="1100">
                <a:solidFill>
                  <a:srgbClr val="222E3B"/>
                </a:solidFill>
                <a:latin typeface="Calibri"/>
              </a:rPr>
              <a:t>Start with DryRun = true; review created/synced/planned-add counts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359359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5704" y="3529584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Schedule  </a:t>
            </a:r>
            <a:r>
              <a:rPr sz="1100">
                <a:solidFill>
                  <a:srgbClr val="222E3B"/>
                </a:solidFill>
                <a:latin typeface="Calibri"/>
              </a:rPr>
              <a:t>daily link (e.g. 06:00) to both runbooks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764024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4700016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Alerting  </a:t>
            </a:r>
            <a:r>
              <a:rPr sz="1100">
                <a:solidFill>
                  <a:srgbClr val="222E3B"/>
                </a:solidFill>
                <a:latin typeface="Calibri"/>
              </a:rPr>
              <a:t>Azure Monitor alert on Scheduled job run failures → email/Teams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764024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75704" y="4700016"/>
            <a:ext cx="513892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Remediations  </a:t>
            </a:r>
            <a:r>
              <a:rPr sz="1100">
                <a:solidFill>
                  <a:srgbClr val="222E3B"/>
                </a:solidFill>
                <a:latin typeface="Calibri"/>
              </a:rPr>
              <a:t>one command builds 49 per-code packages with baked scripts and assigns each to its own code group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5943600"/>
            <a:ext cx="11365992" cy="45720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Missing DeviceManagementApps.Read.All breaks only the app runbook; missing DeviceManagementManagedDevices.Read.All breaks the patch runbook.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Monitoring: Knowing It Works (and When It Doesn't)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57600" cy="2377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Automation side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Any real failure or partial-sync failure → throw → job Failed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Azure Monitor: alert on runbook job failures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Benign skips (409/404) are counted, not thrown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Summary line is machine-parseable for dashboards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188720"/>
            <a:ext cx="3657600" cy="2377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Device side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Remediation State|Detail lines appear per device in Intune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Failed exits build a live 'did not fix' list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%TEMP%\IntuneDetection.log / IntuneRemediation.log for support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Detection errors log and stay compliant (or exit 1 with -Strict)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188720"/>
            <a:ext cx="3657600" cy="23774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Directory side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Group sizes = current failure counts per code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 sudden group-size spike = regression in the field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Marker guard means drift is detectable (warn on foreign groups)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DryRun diff = review before every change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840480"/>
            <a:ext cx="11365992" cy="13716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Example alert flow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06:00 runbook starts → membership batch fails (throttled beyond retries) → throw after summary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Azure Automation job = Failed → alert rule fires → Teams/email shows job output with the warnings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Ops re-runs with DryRun, re-runs for real; devices were never in a half-synced state longer than one run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5440680"/>
            <a:ext cx="11365992" cy="54864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1">
                <a:solidFill>
                  <a:srgbClr val="1B3A5B"/>
                </a:solidFill>
                <a:latin typeface="Calibri"/>
              </a:rPr>
              <a:t>No silent failures: the system either reports success with counts or fails loudly.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Rollout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188720"/>
          <a:ext cx="11365992" cy="367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572000"/>
                <a:gridCol w="5605272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Pass criteria</a:t>
                      </a:r>
                    </a:p>
                  </a:txBody>
                  <a:tcPr marL="64008" marR="45720" marT="18288" marB="18288" anchor="ctr">
                    <a:solidFill>
                      <a:srgbClr val="0078D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1 · Offline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powershell -File Tests\Run-Tests.ps1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57/57 pass; all files parse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2 · Dry run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-Local wrapper with -DryRun against prod tenant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Planned creates/adds/removes match expectations; zero invalid ids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3 · Pilot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One error code, one small group, one Remediation assignment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Detection fires on the right devices only; remediation Verified or honest Failed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4 · Full sync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Schedule both runbooks daily; enable all assignments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Two clean weeks of job runs; alerting armed</a:t>
                      </a:r>
                    </a:p>
                  </a:txBody>
                  <a:tcPr marL="64008" marR="45720" marT="18288" marB="18288" anchor="ctr">
                    <a:solidFill>
                      <a:srgbClr val="F5F8FC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5 · Cleanup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Enable -CleanupOrphanedGroups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22E3B"/>
                          </a:solidFill>
                          <a:latin typeface="Calibri"/>
                        </a:rPr>
                        <a:t>Only empty, marker-owned groups removed; assignments reviewed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11480" y="5120640"/>
            <a:ext cx="11365992" cy="914400"/>
          </a:xfrm>
          <a:prstGeom prst="roundRect">
            <a:avLst/>
          </a:prstGeom>
          <a:solidFill>
            <a:srgbClr val="FDF3E7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200" b="0">
                <a:solidFill>
                  <a:srgbClr val="8A5300"/>
                </a:solidFill>
                <a:latin typeface="Calibri"/>
              </a:rPr>
              <a:t>Licensing checkpoint before Phase 3: Remediations require Windows Enterprise E3/E5, Education A3/A5, or VDA per user - confirm before assignments go live.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Requirements, Permissions &amp; Licensing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3657600" cy="4023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Licensing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Intune Remediations (formerly Proactive Remediations) require: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Windows Enterprise E3/E5 (incl. M365 F3/E3/E5)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Windows Education A3/A5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Windows VDA per user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Devices: Entra joined/hybrid + MDM or co-managed, Win Pro/Ent/Edu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Admin confirms licensing once in the Intune admin center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188720"/>
            <a:ext cx="3657600" cy="4023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Technical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PowerShell 5.1 (client + Azure Automation)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Module: Microsoft.Graph.Authentication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Managed identity for runbooks; delegated scopes locally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Endpoints: update alert + install status reports are beta (no SLA); groups on v1.0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Entra device objects used as group members (directoryObjects refs)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9016" y="1188720"/>
            <a:ext cx="3657600" cy="4023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5A9E"/>
                </a:solidFill>
                <a:latin typeface="Calibri"/>
              </a:rPr>
              <a:t>Permissions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Runbook (managed identity): </a:t>
            </a:r>
            <a:r>
              <a:rPr b="0" sz="110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Directory.Read.All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Group.ReadWrite.All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DeviceManagementManagedDevices.Read.All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• DeviceManagementApps.Read.All (app runbook)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100">
                <a:solidFill>
                  <a:srgbClr val="222E3B"/>
                </a:solidFill>
                <a:latin typeface="Calibri"/>
              </a:rPr>
              <a:t>Local (-Interactive): </a:t>
            </a:r>
            <a:r>
              <a:rPr b="0" sz="1100">
                <a:solidFill>
                  <a:srgbClr val="222E3B"/>
                </a:solidFill>
                <a:latin typeface="Calibri"/>
              </a:rPr>
              <a:t/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same scopes via delegated sign-in; modules auto-installed for CurrentUser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486400"/>
            <a:ext cx="11365992" cy="54864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0">
                <a:solidFill>
                  <a:srgbClr val="1B3A5B"/>
                </a:solidFill>
                <a:latin typeface="Calibri"/>
              </a:rPr>
              <a:t>Beta endpoint note: if Microsoft promotes the report endpoints to v1.0, only the two report POSTs change - the sync engine is endpoint-agnostic.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Core Loop: From Error Report to Fixed Device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Core 1/5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21</a:t>
            </a:r>
          </a:p>
        </p:txBody>
      </p:sp>
      <p:sp>
        <p:nvSpPr>
          <p:cNvPr id="7" name="Chevron 6"/>
          <p:cNvSpPr/>
          <p:nvPr/>
        </p:nvSpPr>
        <p:spPr>
          <a:xfrm>
            <a:off x="411480" y="1143000"/>
            <a:ext cx="278892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1. FETCH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read Intune reports</a:t>
            </a:r>
          </a:p>
        </p:txBody>
      </p:sp>
      <p:sp>
        <p:nvSpPr>
          <p:cNvPr id="8" name="Chevron 7"/>
          <p:cNvSpPr/>
          <p:nvPr/>
        </p:nvSpPr>
        <p:spPr>
          <a:xfrm>
            <a:off x="3255264" y="1143000"/>
            <a:ext cx="278892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2. COLLECT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bucket -&gt; group diff</a:t>
            </a:r>
          </a:p>
        </p:txBody>
      </p:sp>
      <p:sp>
        <p:nvSpPr>
          <p:cNvPr id="9" name="Chevron 8"/>
          <p:cNvSpPr/>
          <p:nvPr/>
        </p:nvSpPr>
        <p:spPr>
          <a:xfrm>
            <a:off x="6099048" y="1143000"/>
            <a:ext cx="278892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3. REMEDIATE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per-code scripts</a:t>
            </a:r>
          </a:p>
        </p:txBody>
      </p:sp>
      <p:sp>
        <p:nvSpPr>
          <p:cNvPr id="10" name="Chevron 9"/>
          <p:cNvSpPr/>
          <p:nvPr/>
        </p:nvSpPr>
        <p:spPr>
          <a:xfrm>
            <a:off x="8942832" y="1143000"/>
            <a:ext cx="2788920" cy="1097280"/>
          </a:xfrm>
          <a:prstGeom prst="chevron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4572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4. REMOVE</a:t>
            </a:r>
          </a:p>
          <a:p>
            <a:pPr algn="ctr"/>
            <a:r>
              <a:rPr sz="850">
                <a:solidFill>
                  <a:srgbClr val="D6EAFB"/>
                </a:solidFill>
                <a:latin typeface="Calibri"/>
              </a:rPr>
              <a:t>fixed -&gt; dropped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468880"/>
            <a:ext cx="2743200" cy="24688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78D4"/>
                </a:solidFill>
                <a:latin typeface="Calibri"/>
              </a:rPr>
              <a:t>FETCH  ·  06:00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Both runbooks POST beta Intune reports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Every failing row = (deviceId, error code)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Patch: update-alert reports per policy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App: failed-apps report + per-app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82696" y="2468880"/>
            <a:ext cx="2743200" cy="24688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005A9E"/>
                </a:solidFill>
                <a:latin typeface="Calibri"/>
              </a:rPr>
              <a:t>COLLECT  ·  Graph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One marker-owned Entra group per code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Sync-GroupMembers: current members vs today's failing deviceIds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$batch writes the diff (20 ops per call)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-DryRun previews the exact writes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2468880"/>
            <a:ext cx="2743200" cy="24688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107C10"/>
                </a:solidFill>
                <a:latin typeface="Calibri"/>
              </a:rPr>
              <a:t>REMEDIATE  ·  Intune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Each group carries its own package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IME runs the targeted detection (exit 1)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Remediation runs as SYSTEM on that device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Verified/Failed land in the Intune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25128" y="2468880"/>
            <a:ext cx="2743200" cy="24688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C43E1C"/>
                </a:solidFill>
                <a:latin typeface="Calibri"/>
              </a:rPr>
              <a:t>REMOVE  ·  sweep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Cleared code stops appearing in reports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Next 06:00 sync drops the device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Empty group cleared, not deleted (scope)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Steady state within two daily cycles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212080"/>
            <a:ext cx="11365992" cy="1005840"/>
          </a:xfrm>
          <a:prstGeom prst="roundRect">
            <a:avLst/>
          </a:prstGeom>
          <a:solidFill>
            <a:srgbClr val="1B3A5B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Two schedulers, one loop:  Azure Automation decides WHO is in scope (collections);  Intune's own schedule decides WHEN scripts run on them.  The group is the hand-off - which is why every error code gets exactly one.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Core Function 1: Fetching Errors out of Intune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Core 2/5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43000"/>
            <a:ext cx="5532120" cy="22860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Patch lane  ·  Get-FailedUpdateStates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POST beta deviceConfigurationReports: a summary report discovers the update policies, then one update-alert report per policy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50">
                <a:solidFill>
                  <a:srgbClr val="222E3B"/>
                </a:solidFill>
                <a:latin typeface="Calibri"/>
              </a:rPr>
              <a:t>Invoke-GraphReport: </a:t>
            </a:r>
            <a:r>
              <a:rPr b="0" sz="1050">
                <a:solidFill>
                  <a:srgbClr val="222E3B"/>
                </a:solidFill>
                <a:latin typeface="Calibri"/>
              </a:rPr>
              <a:t>one POST per report; octet-stream Schema/Values payload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50">
                <a:solidFill>
                  <a:srgbClr val="222E3B"/>
                </a:solidFill>
                <a:latin typeface="Calibri"/>
              </a:rPr>
              <a:t>ConvertFrom-ReportRows: </a:t>
            </a:r>
            <a:r>
              <a:rPr b="0" sz="1050">
                <a:solidFill>
                  <a:srgbClr val="222E3B"/>
                </a:solidFill>
                <a:latin typeface="Calibri"/>
              </a:rPr>
              <a:t>positional rehydrate - Schema columns mapped onto Values, short rows -&gt; $null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Bucket: rows carrying a DeviceId, keyed by the AlertMessage code -&gt; deviceId 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43000"/>
            <a:ext cx="5532120" cy="22860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5A9E"/>
                </a:solidFill>
                <a:latin typeface="Calibri"/>
              </a:rPr>
              <a:t>App lane  ·  Get-FailedAppStatuses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POST getFailedMobileAppsReport: which apps have failures right now (-AppFilter narrows a pilot)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Per app: POST retrieveDeviceAppInstallationStatusReport, paged, try/catch per app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Rows reduced to deviceId + errorCode - identical bucket shape to the patch lane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One broken app feed becomes a counted failure, never a run-abort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3611880"/>
            <a:ext cx="11365992" cy="18288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250" b="1">
                <a:solidFill>
                  <a:srgbClr val="C43E1C"/>
                </a:solidFill>
                <a:latin typeface="Calibri"/>
              </a:rPr>
              <a:t>Shared plumbing  ·  why the fetch never lies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50">
                <a:solidFill>
                  <a:srgbClr val="222E3B"/>
                </a:solidFill>
                <a:latin typeface="Calibri"/>
              </a:rPr>
              <a:t>Invoke-GraphGetAll: </a:t>
            </a:r>
            <a:r>
              <a:rPr b="0" sz="1050">
                <a:solidFill>
                  <a:srgbClr val="222E3B"/>
                </a:solidFill>
                <a:latin typeface="Calibri"/>
              </a:rPr>
              <a:t>$top=999 + @odata.nextLink loop - the old code stopped at page 1 and silently saw only the first 100 devices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50">
                <a:solidFill>
                  <a:srgbClr val="222E3B"/>
                </a:solidFill>
                <a:latin typeface="Calibri"/>
              </a:rPr>
              <a:t>Retry: </a:t>
            </a:r>
            <a:r>
              <a:rPr b="0" sz="1050">
                <a:solidFill>
                  <a:srgbClr val="222E3B"/>
                </a:solidFill>
                <a:latin typeface="Calibri"/>
              </a:rPr>
              <a:t>429/500/502/503/504 -&gt; exponential backoff + jitter, 6 attempts, delay capped at 60s, then rethrow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50">
                <a:solidFill>
                  <a:srgbClr val="222E3B"/>
                </a:solidFill>
                <a:latin typeface="Calibri"/>
              </a:rPr>
              <a:t>Report POSTs retry too: </a:t>
            </a:r>
            <a:r>
              <a:rPr b="0" sz="1050">
                <a:solidFill>
                  <a:srgbClr val="222E3B"/>
                </a:solidFill>
                <a:latin typeface="Calibri"/>
              </a:rPr>
              <a:t>beta report actions throttle on their own clock, independent of list GETs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1" sz="1050">
                <a:solidFill>
                  <a:srgbClr val="222E3B"/>
                </a:solidFill>
                <a:latin typeface="Calibri"/>
              </a:rPr>
              <a:t>Fail-loud: </a:t>
            </a:r>
            <a:r>
              <a:rPr b="0" sz="1050">
                <a:solidFill>
                  <a:srgbClr val="222E3B"/>
                </a:solidFill>
                <a:latin typeface="Calibri"/>
              </a:rPr>
              <a:t>any throw marks the Automation job Failed -&gt; alert fires; a partial sync is never reported as success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5623560"/>
            <a:ext cx="11365992" cy="68580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00" b="0">
                <a:solidFill>
                  <a:srgbClr val="1B3A5B"/>
                </a:solidFill>
                <a:latin typeface="Calibri"/>
              </a:rPr>
              <a:t>The report actions are beta (no SLA). Both lanes sit behind Invoke-GraphReport / Invoke-GraphGetAll - if Microsoft promotes or renames an endpoint the swap is one function, and the sync engine never sees a raw payload.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Core Function 2: Sync-GroupMembers (Collections)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Core 3/5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5272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88720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Read  </a:t>
            </a:r>
            <a:r>
              <a:rPr sz="1100">
                <a:solidFill>
                  <a:srgbClr val="222E3B"/>
                </a:solidFill>
                <a:latin typeface="Calibri"/>
              </a:rPr>
              <a:t>GET /groups/{id}/members, paged -&gt; the current member set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85416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21408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Diff  </a:t>
            </a:r>
            <a:r>
              <a:rPr sz="1100">
                <a:solidFill>
                  <a:srgbClr val="222E3B"/>
                </a:solidFill>
                <a:latin typeface="Calibri"/>
              </a:rPr>
              <a:t>current vs target deviceIds -&gt; pure set math: toAdd / toRemove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18103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54096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Guard  </a:t>
            </a:r>
            <a:r>
              <a:rPr sz="1100">
                <a:solidFill>
                  <a:srgbClr val="222E3B"/>
                </a:solidFill>
                <a:latin typeface="Calibri"/>
              </a:rPr>
              <a:t>non-GUID ids counted and skipped; an all-invalid target aborts the sync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05079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86784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Write  </a:t>
            </a:r>
            <a:r>
              <a:rPr sz="1100">
                <a:solidFill>
                  <a:srgbClr val="222E3B"/>
                </a:solidFill>
                <a:latin typeface="Calibri"/>
              </a:rPr>
              <a:t>$batch: POST /members/$ref per add, DELETE /members/{id} per remove - 20 ops per HTTP 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983480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919472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Report  </a:t>
            </a:r>
            <a:r>
              <a:rPr sz="1100">
                <a:solidFill>
                  <a:srgbClr val="222E3B"/>
                </a:solidFill>
                <a:latin typeface="Calibri"/>
              </a:rPr>
              <a:t>stats -&gt; machine-readable summary; -DryRun stops before the write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188720"/>
            <a:ext cx="5532120" cy="19659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5A9E"/>
                </a:solidFill>
                <a:latin typeface="Calibri"/>
              </a:rPr>
              <a:t>Marker guard  ·  ownership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Only groups whose description contains 'Managed by automation' are ever written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Human-made look-alike group: warning, no changes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New groups are created carrying the marker in the same sequence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337560"/>
            <a:ext cx="5532120" cy="1737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Fault model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409 already-a-member / 404 already-gone -&gt; benign, counted as skipped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Anything else -&gt; failures counter -&gt; throw at end -&gt; job Failed -&gt; alert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Per-group try/catch: one bad group never blocks the other 48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806440"/>
            <a:ext cx="11365992" cy="54864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50" b="0">
                <a:solidFill>
                  <a:srgbClr val="1B3A5B"/>
                </a:solidFill>
                <a:latin typeface="Calibri"/>
              </a:rPr>
              <a:t>Scale: 5,000 devices in one code is about 250 batch calls, not ~10,000 POSTs - and because it is a diff, an unchanged re-run writes nothing (counts drop to 0).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Core Function 3: Per-Code Remediation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Core 4/5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5272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88720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Scope  </a:t>
            </a:r>
            <a:r>
              <a:rPr sz="1100">
                <a:solidFill>
                  <a:srgbClr val="222E3B"/>
                </a:solidFill>
                <a:latin typeface="Calibri"/>
              </a:rPr>
              <a:t>each Intune-*Error-{code} group gets ONE remediation package assigned to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185416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21408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Bake  </a:t>
            </a:r>
            <a:r>
              <a:rPr sz="1100">
                <a:solidFill>
                  <a:srgbClr val="222E3B"/>
                </a:solidFill>
                <a:latin typeface="Calibri"/>
              </a:rPr>
              <a:t>deploy injects the code: detection gains a targeted case, remediation gains its actions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18103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54096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Detect  </a:t>
            </a:r>
            <a:r>
              <a:rPr sz="1100">
                <a:solidFill>
                  <a:srgbClr val="222E3B"/>
                </a:solidFill>
                <a:latin typeface="Calibri"/>
              </a:rPr>
              <a:t>Intune (own schedule, as SYSTEM) runs detection on assigned devices; exit 1 = non-compliant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05079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986784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Fix  </a:t>
            </a:r>
            <a:r>
              <a:rPr sz="1100">
                <a:solidFill>
                  <a:srgbClr val="222E3B"/>
                </a:solidFill>
                <a:latin typeface="Calibri"/>
              </a:rPr>
              <a:t>remediation runs only on those devices; Verified/Unknown -&gt; 0, Failed -&gt;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983480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919472"/>
            <a:ext cx="509320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Close  </a:t>
            </a:r>
            <a:r>
              <a:rPr sz="1100">
                <a:solidFill>
                  <a:srgbClr val="222E3B"/>
                </a:solidFill>
                <a:latin typeface="Calibri"/>
              </a:rPr>
              <a:t>device leaves the report -&gt; next sync drops it -&gt; the assignment stops applying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5352" y="1188720"/>
            <a:ext cx="5532120" cy="228600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Package anatomy  ·  baked at deploy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detection = DetectionTemplate + injected target-code case: exit 1 only while that code is live on the device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remediation = RemediationTemplate + the code's action (or report-only guidance), runAsAccount = system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isGlobalScript = false - Graph rejects creations flagged 'Microsoft proprietary'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Repo templates are never modified: the bake happens in memory during deploy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3657600"/>
            <a:ext cx="5532120" cy="146304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  <a:latin typeface="Calibri"/>
              </a:rPr>
              <a:t>Honest outcomes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Verified/Unknown -&gt; exit 0; Failed -&gt; exit 1 with State|Detail per device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Report-only codes re-print guidance daily instead of mutating the device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760720"/>
            <a:ext cx="11365992" cy="594360"/>
          </a:xfrm>
          <a:prstGeom prst="roundRect">
            <a:avLst/>
          </a:prstGeom>
          <a:solidFill>
            <a:srgbClr val="E3F3E3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50" b="1">
                <a:solidFill>
                  <a:srgbClr val="107C10"/>
                </a:solidFill>
                <a:latin typeface="Calibri"/>
              </a:rPr>
              <a:t>Live in the tenant:  49 groups (25 patch + 24 app)  ·  49 packages  ·  49 assignments  ·  0 errors - independently read back (script content decoded, assignments counted) after deployment.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One-Click Setup: Any Tenant,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Core 5/5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52728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188720"/>
            <a:ext cx="5321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Check  </a:t>
            </a:r>
            <a:r>
              <a:rPr sz="1100">
                <a:solidFill>
                  <a:srgbClr val="222E3B"/>
                </a:solidFill>
                <a:latin typeface="Calibri"/>
              </a:rPr>
              <a:t>Install.cmd verifies Azure CLI and auto-installs it via winget if missing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221992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157984"/>
            <a:ext cx="5321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Sign in  </a:t>
            </a:r>
            <a:r>
              <a:rPr sz="1100">
                <a:solidFill>
                  <a:srgbClr val="222E3B"/>
                </a:solidFill>
                <a:latin typeface="Calibri"/>
              </a:rPr>
              <a:t>az login opens a browser; the tenant is auto-detected (or pass -TenantId)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91256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127248"/>
            <a:ext cx="5321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Infrastructure  </a:t>
            </a:r>
            <a:r>
              <a:rPr sz="1100">
                <a:solidFill>
                  <a:srgbClr val="222E3B"/>
                </a:solidFill>
                <a:latin typeface="Calibri"/>
              </a:rPr>
              <a:t>Deploy-Azure.ps1: resource group, automation account + identity, 5 Graph roles, runbooks, daily schedule, proof dry-run jobs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4160520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096512"/>
            <a:ext cx="5321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Content  </a:t>
            </a:r>
            <a:r>
              <a:rPr sz="1100">
                <a:solidFill>
                  <a:srgbClr val="222E3B"/>
                </a:solidFill>
                <a:latin typeface="Calibri"/>
              </a:rPr>
              <a:t>Deploy-ErrorGroupsAndRemediations.ps1: 49 groups (reused if present), 49 baked packages, 49 assignments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5129784"/>
            <a:ext cx="420624" cy="420624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5065776"/>
            <a:ext cx="5321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5000"/>
              </a:lnSpc>
            </a:pPr>
            <a:r>
              <a:rPr sz="1200" b="1">
                <a:solidFill>
                  <a:srgbClr val="1B3A5B"/>
                </a:solidFill>
                <a:latin typeface="Calibri"/>
              </a:rPr>
              <a:t>Result  </a:t>
            </a:r>
            <a:r>
              <a:rPr sz="1100">
                <a:solidFill>
                  <a:srgbClr val="222E3B"/>
                </a:solidFill>
                <a:latin typeface="Calibri"/>
              </a:rPr>
              <a:t>OK/FAILED per step with log paths and a portal checklist - re-run is idempotent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188720"/>
            <a:ext cx="5257800" cy="17373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C43E1C"/>
                </a:solidFill>
                <a:latin typeface="Calibri"/>
              </a:rPr>
              <a:t>First run on a new tenant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One browser consent window (Graph permissions) - click Accept, the script continues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Nothing else is interactive; subsequent runs are fully headless on the home tenant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108960"/>
            <a:ext cx="5257800" cy="201168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5A9E"/>
                </a:solidFill>
                <a:latin typeface="Calibri"/>
              </a:rPr>
              <a:t>Portable by design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No tenant GUIDs in the flow - target comes from az account show / -TenantId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Schedules built with the timezone you pass (+05:30 derived automatically)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050">
                <a:solidFill>
                  <a:srgbClr val="222E3B"/>
                </a:solidFill>
                <a:latin typeface="Calibri"/>
              </a:rPr>
              <a:t>Both deploy scripts are safe to re-run: existing resources are detected and reused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5897880"/>
            <a:ext cx="11365992" cy="502920"/>
          </a:xfrm>
          <a:prstGeom prst="roundRect">
            <a:avLst/>
          </a:prstGeom>
          <a:solidFill>
            <a:srgbClr val="DCEAF8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150" b="0">
                <a:solidFill>
                  <a:srgbClr val="1B3A5B"/>
                </a:solidFill>
                <a:latin typeface="Calibri"/>
              </a:rPr>
              <a:t>Docs:  README.md (start here)  ·  AZURE-AUTOMATION-SETUP.md (manual path + reference)  ·  ERROR-REFERENCE.md × 2 (code tables).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950976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0" y="2743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CFE4F8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55664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5B6B7C"/>
                </a:solidFill>
                <a:latin typeface="Calibri"/>
              </a:rPr>
              <a:t>IntunePatchPal  ·  your fleet's patch buddy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55664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B6B7C"/>
                </a:solidFill>
                <a:latin typeface="Calibri"/>
              </a:rP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5532120" cy="35661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07C10"/>
                </a:solidFill>
                <a:latin typeface="Calibri"/>
              </a:rPr>
              <a:t>Delivered in this hardening pass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Correctness: full pagination, registry-value reboot detection, WUServer false-positive fix, diff-based membership sync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Reliability: 429/5xx backoff, $batch writes, per-group fault isolation, marker ownership guard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Safety: destructive defaults removed (ResetBase, /r, winsock, pending.xml, service kills, policy flips)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Honesty: Verified/Unknown/Failed outcomes with real exit codes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Automation: one-click Install.cmd for any tenant; 49 per-code remediation packages built and assigned by command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Quality: 57-test offline suite + live smoke runs; docs regenerated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Ops: -DryRun, alerting guidance, rollout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188720"/>
            <a:ext cx="5532120" cy="3566160"/>
          </a:xfrm>
          <a:prstGeom prst="roundRect">
            <a:avLst/>
          </a:prstGeom>
          <a:solidFill>
            <a:srgbClr val="EEF3FA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54864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78D4"/>
                </a:solidFill>
                <a:latin typeface="Calibri"/>
              </a:rPr>
              <a:t>Ideas for the next iteration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Graph delta queries to shrink reads further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Azure Workbook dashboard: group sizes and remediation outcomes over time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Localized detection variants for DISM-heavy checks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Soft-delete awareness (recently deleted devices) in the sweep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b="0" sz="1100">
                <a:solidFill>
                  <a:srgbClr val="222E3B"/>
                </a:solidFill>
                <a:latin typeface="Calibri"/>
              </a:rPr>
              <a:t>Pester migration if the team standardises on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5029200"/>
            <a:ext cx="11365992" cy="1005840"/>
          </a:xfrm>
          <a:prstGeom prst="roundRect">
            <a:avLst/>
          </a:prstGeom>
          <a:solidFill>
            <a:srgbClr val="1B3A5B"/>
          </a:solidFill>
          <a:ln w="9525">
            <a:solidFill>
              <a:srgbClr val="C9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Questions?   ·   github.com/kajalkumarshal-07/IntunePatchPal   ·   Tests: Tests\Run-Tests.ps1   ·   Setup: AZURE-AUTOMATION-SETUP.md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IntunePatchPal - your fleet's patch buddy</dc:title>
  <dc:subject>Architecture, workflow, remediation matrices, safety and operations</dc:subject>
  <dc:creator>IntuneRemediations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